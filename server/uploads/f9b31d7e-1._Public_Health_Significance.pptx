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9" r:id="rId2"/>
  </p:sldMasterIdLst>
  <p:notesMasterIdLst>
    <p:notesMasterId r:id="rId32"/>
  </p:notesMasterIdLst>
  <p:sldIdLst>
    <p:sldId id="385" r:id="rId3"/>
    <p:sldId id="380" r:id="rId4"/>
    <p:sldId id="404" r:id="rId5"/>
    <p:sldId id="378" r:id="rId6"/>
    <p:sldId id="381" r:id="rId7"/>
    <p:sldId id="355" r:id="rId8"/>
    <p:sldId id="356" r:id="rId9"/>
    <p:sldId id="357" r:id="rId10"/>
    <p:sldId id="386" r:id="rId11"/>
    <p:sldId id="390" r:id="rId12"/>
    <p:sldId id="391" r:id="rId13"/>
    <p:sldId id="405" r:id="rId14"/>
    <p:sldId id="392" r:id="rId15"/>
    <p:sldId id="406" r:id="rId16"/>
    <p:sldId id="362" r:id="rId17"/>
    <p:sldId id="407" r:id="rId18"/>
    <p:sldId id="393" r:id="rId19"/>
    <p:sldId id="394" r:id="rId20"/>
    <p:sldId id="408" r:id="rId21"/>
    <p:sldId id="401" r:id="rId22"/>
    <p:sldId id="396" r:id="rId23"/>
    <p:sldId id="397" r:id="rId24"/>
    <p:sldId id="402" r:id="rId25"/>
    <p:sldId id="399" r:id="rId26"/>
    <p:sldId id="411" r:id="rId27"/>
    <p:sldId id="409" r:id="rId28"/>
    <p:sldId id="410" r:id="rId29"/>
    <p:sldId id="400" r:id="rId30"/>
    <p:sldId id="37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hereteab Teshome Tebeje" initials="MTT" lastIdx="9" clrIdx="0">
    <p:extLst>
      <p:ext uri="{19B8F6BF-5375-455C-9EA6-DF929625EA0E}">
        <p15:presenceInfo xmlns:p15="http://schemas.microsoft.com/office/powerpoint/2012/main" userId="S-1-5-21-200220283-296057445-522006248-26144" providerId="AD"/>
      </p:ext>
    </p:extLst>
  </p:cmAuthor>
  <p:cmAuthor id="2" name="Jolanda Steenwijk" initials="JS" lastIdx="2" clrIdx="1">
    <p:extLst>
      <p:ext uri="{19B8F6BF-5375-455C-9EA6-DF929625EA0E}">
        <p15:presenceInfo xmlns:p15="http://schemas.microsoft.com/office/powerpoint/2012/main" userId="S-1-5-21-246621421-2299402477-2374328829-1106" providerId="AD"/>
      </p:ext>
    </p:extLst>
  </p:cmAuthor>
  <p:cmAuthor id="3" name="Sami ZK" initials="SZ" lastIdx="1" clrIdx="2">
    <p:extLst>
      <p:ext uri="{19B8F6BF-5375-455C-9EA6-DF929625EA0E}">
        <p15:presenceInfo xmlns:p15="http://schemas.microsoft.com/office/powerpoint/2012/main" userId="Sami ZK" providerId="None"/>
      </p:ext>
    </p:extLst>
  </p:cmAuthor>
  <p:cmAuthor id="4" name="User" initials="U" lastIdx="3"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FCB"/>
    <a:srgbClr val="40C064"/>
    <a:srgbClr val="00003F"/>
    <a:srgbClr val="FF9900"/>
    <a:srgbClr val="718C3F"/>
    <a:srgbClr val="000043"/>
    <a:srgbClr val="CFFDC7"/>
    <a:srgbClr val="FBFFD3"/>
    <a:srgbClr val="3BC6C1"/>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BA03B3-2EB7-4CDA-A6C9-2FD7432FA163}" v="1" dt="2023-06-01T20:39:57.0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13" autoAdjust="0"/>
    <p:restoredTop sz="88256" autoAdjust="0"/>
  </p:normalViewPr>
  <p:slideViewPr>
    <p:cSldViewPr>
      <p:cViewPr varScale="1">
        <p:scale>
          <a:sx n="56" d="100"/>
          <a:sy n="56" d="100"/>
        </p:scale>
        <p:origin x="1664" y="48"/>
      </p:cViewPr>
      <p:guideLst>
        <p:guide orient="horz" pos="2160"/>
        <p:guide pos="288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ssie Lingerh" userId="5d2454e2-f0f2-4045-88d1-668647d19eee" providerId="ADAL" clId="{72BA03B3-2EB7-4CDA-A6C9-2FD7432FA163}"/>
    <pc:docChg chg="modSld">
      <pc:chgData name="Wassie Lingerh" userId="5d2454e2-f0f2-4045-88d1-668647d19eee" providerId="ADAL" clId="{72BA03B3-2EB7-4CDA-A6C9-2FD7432FA163}" dt="2023-06-01T20:41:17.574" v="26" actId="255"/>
      <pc:docMkLst>
        <pc:docMk/>
      </pc:docMkLst>
      <pc:sldChg chg="modSp mod">
        <pc:chgData name="Wassie Lingerh" userId="5d2454e2-f0f2-4045-88d1-668647d19eee" providerId="ADAL" clId="{72BA03B3-2EB7-4CDA-A6C9-2FD7432FA163}" dt="2023-06-01T20:39:21.284" v="7" actId="207"/>
        <pc:sldMkLst>
          <pc:docMk/>
          <pc:sldMk cId="2489661398" sldId="355"/>
        </pc:sldMkLst>
        <pc:spChg chg="mod">
          <ac:chgData name="Wassie Lingerh" userId="5d2454e2-f0f2-4045-88d1-668647d19eee" providerId="ADAL" clId="{72BA03B3-2EB7-4CDA-A6C9-2FD7432FA163}" dt="2023-06-01T20:39:21.284" v="7" actId="207"/>
          <ac:spMkLst>
            <pc:docMk/>
            <pc:sldMk cId="2489661398" sldId="355"/>
            <ac:spMk id="2" creationId="{00000000-0000-0000-0000-000000000000}"/>
          </ac:spMkLst>
        </pc:spChg>
      </pc:sldChg>
      <pc:sldChg chg="modSp mod">
        <pc:chgData name="Wassie Lingerh" userId="5d2454e2-f0f2-4045-88d1-668647d19eee" providerId="ADAL" clId="{72BA03B3-2EB7-4CDA-A6C9-2FD7432FA163}" dt="2023-06-01T20:39:29.687" v="8" actId="207"/>
        <pc:sldMkLst>
          <pc:docMk/>
          <pc:sldMk cId="2826720123" sldId="356"/>
        </pc:sldMkLst>
        <pc:spChg chg="mod">
          <ac:chgData name="Wassie Lingerh" userId="5d2454e2-f0f2-4045-88d1-668647d19eee" providerId="ADAL" clId="{72BA03B3-2EB7-4CDA-A6C9-2FD7432FA163}" dt="2023-06-01T20:39:29.687" v="8" actId="207"/>
          <ac:spMkLst>
            <pc:docMk/>
            <pc:sldMk cId="2826720123" sldId="356"/>
            <ac:spMk id="2" creationId="{00000000-0000-0000-0000-000000000000}"/>
          </ac:spMkLst>
        </pc:spChg>
      </pc:sldChg>
      <pc:sldChg chg="modSp mod">
        <pc:chgData name="Wassie Lingerh" userId="5d2454e2-f0f2-4045-88d1-668647d19eee" providerId="ADAL" clId="{72BA03B3-2EB7-4CDA-A6C9-2FD7432FA163}" dt="2023-06-01T20:39:34.318" v="9" actId="207"/>
        <pc:sldMkLst>
          <pc:docMk/>
          <pc:sldMk cId="1011111508" sldId="357"/>
        </pc:sldMkLst>
        <pc:spChg chg="mod">
          <ac:chgData name="Wassie Lingerh" userId="5d2454e2-f0f2-4045-88d1-668647d19eee" providerId="ADAL" clId="{72BA03B3-2EB7-4CDA-A6C9-2FD7432FA163}" dt="2023-06-01T20:39:34.318" v="9" actId="207"/>
          <ac:spMkLst>
            <pc:docMk/>
            <pc:sldMk cId="1011111508" sldId="357"/>
            <ac:spMk id="2" creationId="{00000000-0000-0000-0000-000000000000}"/>
          </ac:spMkLst>
        </pc:spChg>
      </pc:sldChg>
      <pc:sldChg chg="modSp mod">
        <pc:chgData name="Wassie Lingerh" userId="5d2454e2-f0f2-4045-88d1-668647d19eee" providerId="ADAL" clId="{72BA03B3-2EB7-4CDA-A6C9-2FD7432FA163}" dt="2023-06-01T20:40:11.176" v="16" actId="207"/>
        <pc:sldMkLst>
          <pc:docMk/>
          <pc:sldMk cId="3002282197" sldId="362"/>
        </pc:sldMkLst>
        <pc:spChg chg="mod">
          <ac:chgData name="Wassie Lingerh" userId="5d2454e2-f0f2-4045-88d1-668647d19eee" providerId="ADAL" clId="{72BA03B3-2EB7-4CDA-A6C9-2FD7432FA163}" dt="2023-06-01T20:40:11.176" v="16" actId="207"/>
          <ac:spMkLst>
            <pc:docMk/>
            <pc:sldMk cId="3002282197" sldId="362"/>
            <ac:spMk id="5" creationId="{00000000-0000-0000-0000-000000000000}"/>
          </ac:spMkLst>
        </pc:spChg>
      </pc:sldChg>
      <pc:sldChg chg="modSp mod">
        <pc:chgData name="Wassie Lingerh" userId="5d2454e2-f0f2-4045-88d1-668647d19eee" providerId="ADAL" clId="{72BA03B3-2EB7-4CDA-A6C9-2FD7432FA163}" dt="2023-06-01T20:39:09.443" v="5" actId="207"/>
        <pc:sldMkLst>
          <pc:docMk/>
          <pc:sldMk cId="538652755" sldId="378"/>
        </pc:sldMkLst>
        <pc:spChg chg="mod">
          <ac:chgData name="Wassie Lingerh" userId="5d2454e2-f0f2-4045-88d1-668647d19eee" providerId="ADAL" clId="{72BA03B3-2EB7-4CDA-A6C9-2FD7432FA163}" dt="2023-06-01T20:39:09.443" v="5" actId="207"/>
          <ac:spMkLst>
            <pc:docMk/>
            <pc:sldMk cId="538652755" sldId="378"/>
            <ac:spMk id="2" creationId="{00000000-0000-0000-0000-000000000000}"/>
          </ac:spMkLst>
        </pc:spChg>
      </pc:sldChg>
      <pc:sldChg chg="modSp mod">
        <pc:chgData name="Wassie Lingerh" userId="5d2454e2-f0f2-4045-88d1-668647d19eee" providerId="ADAL" clId="{72BA03B3-2EB7-4CDA-A6C9-2FD7432FA163}" dt="2023-06-01T20:38:47.373" v="2" actId="207"/>
        <pc:sldMkLst>
          <pc:docMk/>
          <pc:sldMk cId="4015143235" sldId="380"/>
        </pc:sldMkLst>
        <pc:spChg chg="mod">
          <ac:chgData name="Wassie Lingerh" userId="5d2454e2-f0f2-4045-88d1-668647d19eee" providerId="ADAL" clId="{72BA03B3-2EB7-4CDA-A6C9-2FD7432FA163}" dt="2023-06-01T20:38:47.373" v="2" actId="207"/>
          <ac:spMkLst>
            <pc:docMk/>
            <pc:sldMk cId="4015143235" sldId="380"/>
            <ac:spMk id="4" creationId="{00000000-0000-0000-0000-000000000000}"/>
          </ac:spMkLst>
        </pc:spChg>
      </pc:sldChg>
      <pc:sldChg chg="modSp mod">
        <pc:chgData name="Wassie Lingerh" userId="5d2454e2-f0f2-4045-88d1-668647d19eee" providerId="ADAL" clId="{72BA03B3-2EB7-4CDA-A6C9-2FD7432FA163}" dt="2023-06-01T20:39:15.642" v="6" actId="207"/>
        <pc:sldMkLst>
          <pc:docMk/>
          <pc:sldMk cId="917643146" sldId="381"/>
        </pc:sldMkLst>
        <pc:spChg chg="mod">
          <ac:chgData name="Wassie Lingerh" userId="5d2454e2-f0f2-4045-88d1-668647d19eee" providerId="ADAL" clId="{72BA03B3-2EB7-4CDA-A6C9-2FD7432FA163}" dt="2023-06-01T20:39:15.642" v="6" actId="207"/>
          <ac:spMkLst>
            <pc:docMk/>
            <pc:sldMk cId="917643146" sldId="381"/>
            <ac:spMk id="2" creationId="{00000000-0000-0000-0000-000000000000}"/>
          </ac:spMkLst>
        </pc:spChg>
      </pc:sldChg>
      <pc:sldChg chg="modSp mod">
        <pc:chgData name="Wassie Lingerh" userId="5d2454e2-f0f2-4045-88d1-668647d19eee" providerId="ADAL" clId="{72BA03B3-2EB7-4CDA-A6C9-2FD7432FA163}" dt="2023-06-01T20:38:39.012" v="0" actId="207"/>
        <pc:sldMkLst>
          <pc:docMk/>
          <pc:sldMk cId="1328460855" sldId="385"/>
        </pc:sldMkLst>
        <pc:spChg chg="mod">
          <ac:chgData name="Wassie Lingerh" userId="5d2454e2-f0f2-4045-88d1-668647d19eee" providerId="ADAL" clId="{72BA03B3-2EB7-4CDA-A6C9-2FD7432FA163}" dt="2023-06-01T20:38:39.012" v="0" actId="207"/>
          <ac:spMkLst>
            <pc:docMk/>
            <pc:sldMk cId="1328460855" sldId="385"/>
            <ac:spMk id="2" creationId="{E6759057-365A-428F-B926-9D2DEEA3DD02}"/>
          </ac:spMkLst>
        </pc:spChg>
      </pc:sldChg>
      <pc:sldChg chg="modSp mod">
        <pc:chgData name="Wassie Lingerh" userId="5d2454e2-f0f2-4045-88d1-668647d19eee" providerId="ADAL" clId="{72BA03B3-2EB7-4CDA-A6C9-2FD7432FA163}" dt="2023-06-01T20:39:39.632" v="10" actId="207"/>
        <pc:sldMkLst>
          <pc:docMk/>
          <pc:sldMk cId="2913607041" sldId="386"/>
        </pc:sldMkLst>
        <pc:spChg chg="mod">
          <ac:chgData name="Wassie Lingerh" userId="5d2454e2-f0f2-4045-88d1-668647d19eee" providerId="ADAL" clId="{72BA03B3-2EB7-4CDA-A6C9-2FD7432FA163}" dt="2023-06-01T20:39:39.632" v="10" actId="207"/>
          <ac:spMkLst>
            <pc:docMk/>
            <pc:sldMk cId="2913607041" sldId="386"/>
            <ac:spMk id="3" creationId="{A44A7F19-7672-469D-893D-DF6796BB1DB6}"/>
          </ac:spMkLst>
        </pc:spChg>
      </pc:sldChg>
      <pc:sldChg chg="modSp mod">
        <pc:chgData name="Wassie Lingerh" userId="5d2454e2-f0f2-4045-88d1-668647d19eee" providerId="ADAL" clId="{72BA03B3-2EB7-4CDA-A6C9-2FD7432FA163}" dt="2023-06-01T20:39:48.481" v="11" actId="207"/>
        <pc:sldMkLst>
          <pc:docMk/>
          <pc:sldMk cId="3003308823" sldId="390"/>
        </pc:sldMkLst>
        <pc:spChg chg="mod">
          <ac:chgData name="Wassie Lingerh" userId="5d2454e2-f0f2-4045-88d1-668647d19eee" providerId="ADAL" clId="{72BA03B3-2EB7-4CDA-A6C9-2FD7432FA163}" dt="2023-06-01T20:39:48.481" v="11" actId="207"/>
          <ac:spMkLst>
            <pc:docMk/>
            <pc:sldMk cId="3003308823" sldId="390"/>
            <ac:spMk id="2" creationId="{5A5D4FC2-75C2-467B-99EC-482EF3ADE583}"/>
          </ac:spMkLst>
        </pc:spChg>
      </pc:sldChg>
      <pc:sldChg chg="modSp mod">
        <pc:chgData name="Wassie Lingerh" userId="5d2454e2-f0f2-4045-88d1-668647d19eee" providerId="ADAL" clId="{72BA03B3-2EB7-4CDA-A6C9-2FD7432FA163}" dt="2023-06-01T20:39:52.277" v="12" actId="207"/>
        <pc:sldMkLst>
          <pc:docMk/>
          <pc:sldMk cId="3484230189" sldId="391"/>
        </pc:sldMkLst>
        <pc:spChg chg="mod">
          <ac:chgData name="Wassie Lingerh" userId="5d2454e2-f0f2-4045-88d1-668647d19eee" providerId="ADAL" clId="{72BA03B3-2EB7-4CDA-A6C9-2FD7432FA163}" dt="2023-06-01T20:39:52.277" v="12" actId="207"/>
          <ac:spMkLst>
            <pc:docMk/>
            <pc:sldMk cId="3484230189" sldId="391"/>
            <ac:spMk id="2" creationId="{EC18D693-E27F-4643-B277-FF506C680E66}"/>
          </ac:spMkLst>
        </pc:spChg>
      </pc:sldChg>
      <pc:sldChg chg="modSp mod">
        <pc:chgData name="Wassie Lingerh" userId="5d2454e2-f0f2-4045-88d1-668647d19eee" providerId="ADAL" clId="{72BA03B3-2EB7-4CDA-A6C9-2FD7432FA163}" dt="2023-06-01T20:40:02.292" v="14" actId="207"/>
        <pc:sldMkLst>
          <pc:docMk/>
          <pc:sldMk cId="4221649181" sldId="392"/>
        </pc:sldMkLst>
        <pc:spChg chg="mod">
          <ac:chgData name="Wassie Lingerh" userId="5d2454e2-f0f2-4045-88d1-668647d19eee" providerId="ADAL" clId="{72BA03B3-2EB7-4CDA-A6C9-2FD7432FA163}" dt="2023-06-01T20:40:02.292" v="14" actId="207"/>
          <ac:spMkLst>
            <pc:docMk/>
            <pc:sldMk cId="4221649181" sldId="392"/>
            <ac:spMk id="2" creationId="{451AF644-647B-48C5-8FD4-E2B5E48D1294}"/>
          </ac:spMkLst>
        </pc:spChg>
      </pc:sldChg>
      <pc:sldChg chg="modSp mod">
        <pc:chgData name="Wassie Lingerh" userId="5d2454e2-f0f2-4045-88d1-668647d19eee" providerId="ADAL" clId="{72BA03B3-2EB7-4CDA-A6C9-2FD7432FA163}" dt="2023-06-01T20:40:21.255" v="18" actId="207"/>
        <pc:sldMkLst>
          <pc:docMk/>
          <pc:sldMk cId="309662410" sldId="394"/>
        </pc:sldMkLst>
        <pc:spChg chg="mod">
          <ac:chgData name="Wassie Lingerh" userId="5d2454e2-f0f2-4045-88d1-668647d19eee" providerId="ADAL" clId="{72BA03B3-2EB7-4CDA-A6C9-2FD7432FA163}" dt="2023-06-01T20:40:21.255" v="18" actId="207"/>
          <ac:spMkLst>
            <pc:docMk/>
            <pc:sldMk cId="309662410" sldId="394"/>
            <ac:spMk id="2" creationId="{EA1DF7FE-7E8E-4150-A4CA-FFE034CAD585}"/>
          </ac:spMkLst>
        </pc:spChg>
      </pc:sldChg>
      <pc:sldChg chg="modSp mod">
        <pc:chgData name="Wassie Lingerh" userId="5d2454e2-f0f2-4045-88d1-668647d19eee" providerId="ADAL" clId="{72BA03B3-2EB7-4CDA-A6C9-2FD7432FA163}" dt="2023-06-01T20:40:37.642" v="20" actId="207"/>
        <pc:sldMkLst>
          <pc:docMk/>
          <pc:sldMk cId="1429853713" sldId="396"/>
        </pc:sldMkLst>
        <pc:spChg chg="mod">
          <ac:chgData name="Wassie Lingerh" userId="5d2454e2-f0f2-4045-88d1-668647d19eee" providerId="ADAL" clId="{72BA03B3-2EB7-4CDA-A6C9-2FD7432FA163}" dt="2023-06-01T20:40:37.642" v="20" actId="207"/>
          <ac:spMkLst>
            <pc:docMk/>
            <pc:sldMk cId="1429853713" sldId="396"/>
            <ac:spMk id="2" creationId="{A18C7060-DA83-4D95-B562-C7B44E837A34}"/>
          </ac:spMkLst>
        </pc:spChg>
      </pc:sldChg>
      <pc:sldChg chg="modSp mod">
        <pc:chgData name="Wassie Lingerh" userId="5d2454e2-f0f2-4045-88d1-668647d19eee" providerId="ADAL" clId="{72BA03B3-2EB7-4CDA-A6C9-2FD7432FA163}" dt="2023-06-01T20:40:49.401" v="21" actId="207"/>
        <pc:sldMkLst>
          <pc:docMk/>
          <pc:sldMk cId="630545446" sldId="399"/>
        </pc:sldMkLst>
        <pc:spChg chg="mod">
          <ac:chgData name="Wassie Lingerh" userId="5d2454e2-f0f2-4045-88d1-668647d19eee" providerId="ADAL" clId="{72BA03B3-2EB7-4CDA-A6C9-2FD7432FA163}" dt="2023-06-01T20:40:49.401" v="21" actId="207"/>
          <ac:spMkLst>
            <pc:docMk/>
            <pc:sldMk cId="630545446" sldId="399"/>
            <ac:spMk id="2" creationId="{2AE8D1BE-C75B-4AE5-B973-1CE4F2682E36}"/>
          </ac:spMkLst>
        </pc:spChg>
      </pc:sldChg>
      <pc:sldChg chg="modSp mod">
        <pc:chgData name="Wassie Lingerh" userId="5d2454e2-f0f2-4045-88d1-668647d19eee" providerId="ADAL" clId="{72BA03B3-2EB7-4CDA-A6C9-2FD7432FA163}" dt="2023-06-01T20:41:17.574" v="26" actId="255"/>
        <pc:sldMkLst>
          <pc:docMk/>
          <pc:sldMk cId="784057331" sldId="400"/>
        </pc:sldMkLst>
        <pc:spChg chg="mod">
          <ac:chgData name="Wassie Lingerh" userId="5d2454e2-f0f2-4045-88d1-668647d19eee" providerId="ADAL" clId="{72BA03B3-2EB7-4CDA-A6C9-2FD7432FA163}" dt="2023-06-01T20:41:17.574" v="26" actId="255"/>
          <ac:spMkLst>
            <pc:docMk/>
            <pc:sldMk cId="784057331" sldId="400"/>
            <ac:spMk id="2" creationId="{9FD6D042-2330-4C6E-97C0-938608CA6BBA}"/>
          </ac:spMkLst>
        </pc:spChg>
      </pc:sldChg>
      <pc:sldChg chg="modSp mod">
        <pc:chgData name="Wassie Lingerh" userId="5d2454e2-f0f2-4045-88d1-668647d19eee" providerId="ADAL" clId="{72BA03B3-2EB7-4CDA-A6C9-2FD7432FA163}" dt="2023-06-01T20:39:00.899" v="4" actId="207"/>
        <pc:sldMkLst>
          <pc:docMk/>
          <pc:sldMk cId="4289452470" sldId="404"/>
        </pc:sldMkLst>
        <pc:spChg chg="mod">
          <ac:chgData name="Wassie Lingerh" userId="5d2454e2-f0f2-4045-88d1-668647d19eee" providerId="ADAL" clId="{72BA03B3-2EB7-4CDA-A6C9-2FD7432FA163}" dt="2023-06-01T20:39:00.899" v="4" actId="207"/>
          <ac:spMkLst>
            <pc:docMk/>
            <pc:sldMk cId="4289452470" sldId="404"/>
            <ac:spMk id="2" creationId="{00000000-0000-0000-0000-000000000000}"/>
          </ac:spMkLst>
        </pc:spChg>
      </pc:sldChg>
      <pc:sldChg chg="delSp">
        <pc:chgData name="Wassie Lingerh" userId="5d2454e2-f0f2-4045-88d1-668647d19eee" providerId="ADAL" clId="{72BA03B3-2EB7-4CDA-A6C9-2FD7432FA163}" dt="2023-06-01T20:39:57.096" v="13" actId="478"/>
        <pc:sldMkLst>
          <pc:docMk/>
          <pc:sldMk cId="4248877500" sldId="405"/>
        </pc:sldMkLst>
        <pc:spChg chg="del">
          <ac:chgData name="Wassie Lingerh" userId="5d2454e2-f0f2-4045-88d1-668647d19eee" providerId="ADAL" clId="{72BA03B3-2EB7-4CDA-A6C9-2FD7432FA163}" dt="2023-06-01T20:39:57.096" v="13" actId="478"/>
          <ac:spMkLst>
            <pc:docMk/>
            <pc:sldMk cId="4248877500" sldId="405"/>
            <ac:spMk id="2" creationId="{00000000-0000-0000-0000-000000000000}"/>
          </ac:spMkLst>
        </pc:spChg>
      </pc:sldChg>
      <pc:sldChg chg="modSp mod">
        <pc:chgData name="Wassie Lingerh" userId="5d2454e2-f0f2-4045-88d1-668647d19eee" providerId="ADAL" clId="{72BA03B3-2EB7-4CDA-A6C9-2FD7432FA163}" dt="2023-06-01T20:40:06.647" v="15" actId="207"/>
        <pc:sldMkLst>
          <pc:docMk/>
          <pc:sldMk cId="2603978399" sldId="406"/>
        </pc:sldMkLst>
        <pc:spChg chg="mod">
          <ac:chgData name="Wassie Lingerh" userId="5d2454e2-f0f2-4045-88d1-668647d19eee" providerId="ADAL" clId="{72BA03B3-2EB7-4CDA-A6C9-2FD7432FA163}" dt="2023-06-01T20:40:06.647" v="15" actId="207"/>
          <ac:spMkLst>
            <pc:docMk/>
            <pc:sldMk cId="2603978399" sldId="406"/>
            <ac:spMk id="2" creationId="{00000000-0000-0000-0000-000000000000}"/>
          </ac:spMkLst>
        </pc:spChg>
      </pc:sldChg>
      <pc:sldChg chg="modSp mod">
        <pc:chgData name="Wassie Lingerh" userId="5d2454e2-f0f2-4045-88d1-668647d19eee" providerId="ADAL" clId="{72BA03B3-2EB7-4CDA-A6C9-2FD7432FA163}" dt="2023-06-01T20:40:15.034" v="17" actId="207"/>
        <pc:sldMkLst>
          <pc:docMk/>
          <pc:sldMk cId="1739748264" sldId="407"/>
        </pc:sldMkLst>
        <pc:spChg chg="mod">
          <ac:chgData name="Wassie Lingerh" userId="5d2454e2-f0f2-4045-88d1-668647d19eee" providerId="ADAL" clId="{72BA03B3-2EB7-4CDA-A6C9-2FD7432FA163}" dt="2023-06-01T20:40:15.034" v="17" actId="207"/>
          <ac:spMkLst>
            <pc:docMk/>
            <pc:sldMk cId="1739748264" sldId="407"/>
            <ac:spMk id="2" creationId="{00000000-0000-0000-0000-000000000000}"/>
          </ac:spMkLst>
        </pc:spChg>
      </pc:sldChg>
      <pc:sldChg chg="modSp mod">
        <pc:chgData name="Wassie Lingerh" userId="5d2454e2-f0f2-4045-88d1-668647d19eee" providerId="ADAL" clId="{72BA03B3-2EB7-4CDA-A6C9-2FD7432FA163}" dt="2023-06-01T20:40:31.413" v="19" actId="207"/>
        <pc:sldMkLst>
          <pc:docMk/>
          <pc:sldMk cId="66338413" sldId="408"/>
        </pc:sldMkLst>
        <pc:spChg chg="mod">
          <ac:chgData name="Wassie Lingerh" userId="5d2454e2-f0f2-4045-88d1-668647d19eee" providerId="ADAL" clId="{72BA03B3-2EB7-4CDA-A6C9-2FD7432FA163}" dt="2023-06-01T20:40:31.413" v="19" actId="207"/>
          <ac:spMkLst>
            <pc:docMk/>
            <pc:sldMk cId="66338413" sldId="408"/>
            <ac:spMk id="2" creationId="{00000000-0000-0000-0000-000000000000}"/>
          </ac:spMkLst>
        </pc:spChg>
      </pc:sldChg>
      <pc:sldChg chg="modSp mod">
        <pc:chgData name="Wassie Lingerh" userId="5d2454e2-f0f2-4045-88d1-668647d19eee" providerId="ADAL" clId="{72BA03B3-2EB7-4CDA-A6C9-2FD7432FA163}" dt="2023-06-01T20:41:00.477" v="23" actId="207"/>
        <pc:sldMkLst>
          <pc:docMk/>
          <pc:sldMk cId="1582636386" sldId="409"/>
        </pc:sldMkLst>
        <pc:spChg chg="mod">
          <ac:chgData name="Wassie Lingerh" userId="5d2454e2-f0f2-4045-88d1-668647d19eee" providerId="ADAL" clId="{72BA03B3-2EB7-4CDA-A6C9-2FD7432FA163}" dt="2023-06-01T20:41:00.477" v="23" actId="207"/>
          <ac:spMkLst>
            <pc:docMk/>
            <pc:sldMk cId="1582636386" sldId="409"/>
            <ac:spMk id="2" creationId="{00000000-0000-0000-0000-000000000000}"/>
          </ac:spMkLst>
        </pc:spChg>
      </pc:sldChg>
      <pc:sldChg chg="modSp mod">
        <pc:chgData name="Wassie Lingerh" userId="5d2454e2-f0f2-4045-88d1-668647d19eee" providerId="ADAL" clId="{72BA03B3-2EB7-4CDA-A6C9-2FD7432FA163}" dt="2023-06-01T20:41:05.240" v="24" actId="207"/>
        <pc:sldMkLst>
          <pc:docMk/>
          <pc:sldMk cId="2729994482" sldId="410"/>
        </pc:sldMkLst>
        <pc:spChg chg="mod">
          <ac:chgData name="Wassie Lingerh" userId="5d2454e2-f0f2-4045-88d1-668647d19eee" providerId="ADAL" clId="{72BA03B3-2EB7-4CDA-A6C9-2FD7432FA163}" dt="2023-06-01T20:41:05.240" v="24" actId="207"/>
          <ac:spMkLst>
            <pc:docMk/>
            <pc:sldMk cId="2729994482" sldId="410"/>
            <ac:spMk id="2" creationId="{00000000-0000-0000-0000-000000000000}"/>
          </ac:spMkLst>
        </pc:spChg>
      </pc:sldChg>
      <pc:sldChg chg="modSp mod">
        <pc:chgData name="Wassie Lingerh" userId="5d2454e2-f0f2-4045-88d1-668647d19eee" providerId="ADAL" clId="{72BA03B3-2EB7-4CDA-A6C9-2FD7432FA163}" dt="2023-06-01T20:40:54.731" v="22" actId="207"/>
        <pc:sldMkLst>
          <pc:docMk/>
          <pc:sldMk cId="1768431965" sldId="411"/>
        </pc:sldMkLst>
        <pc:spChg chg="mod">
          <ac:chgData name="Wassie Lingerh" userId="5d2454e2-f0f2-4045-88d1-668647d19eee" providerId="ADAL" clId="{72BA03B3-2EB7-4CDA-A6C9-2FD7432FA163}" dt="2023-06-01T20:40:54.731" v="22" actId="207"/>
          <ac:spMkLst>
            <pc:docMk/>
            <pc:sldMk cId="1768431965" sldId="411"/>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69E044-D0F8-464D-84CA-0E67D5877E7F}" type="datetimeFigureOut">
              <a:rPr lang="en-US" smtClean="0"/>
              <a:t>6/1/2023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123036-13F6-46B3-9696-5F0E3A9A3572}" type="slidenum">
              <a:rPr lang="en-US" smtClean="0"/>
              <a:t>‹#›</a:t>
            </a:fld>
            <a:endParaRPr lang="en-US"/>
          </a:p>
        </p:txBody>
      </p:sp>
    </p:spTree>
    <p:extLst>
      <p:ext uri="{BB962C8B-B14F-4D97-AF65-F5344CB8AC3E}">
        <p14:creationId xmlns:p14="http://schemas.microsoft.com/office/powerpoint/2010/main" val="225212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4</a:t>
            </a:fld>
            <a:endParaRPr lang="en-US"/>
          </a:p>
        </p:txBody>
      </p:sp>
    </p:spTree>
    <p:extLst>
      <p:ext uri="{BB962C8B-B14F-4D97-AF65-F5344CB8AC3E}">
        <p14:creationId xmlns:p14="http://schemas.microsoft.com/office/powerpoint/2010/main" val="2115031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latin typeface="Times New Roman" pitchFamily="18" charset="0"/>
                <a:cs typeface="Times New Roman" pitchFamily="18" charset="0"/>
              </a:rPr>
              <a:t>The relative increase in all-cause mortality for males against their female counterparts might be due to exposure to road traffic accidents, injuries, and other interpersonal violence</a:t>
            </a:r>
          </a:p>
          <a:p>
            <a:r>
              <a:rPr lang="en-US" sz="1200" b="0" dirty="0">
                <a:latin typeface="Times New Roman" pitchFamily="18" charset="0"/>
                <a:cs typeface="Times New Roman" pitchFamily="18" charset="0"/>
              </a:rPr>
              <a:t>In urban areas, there were 2.4 male deaths and 1.9 female deaths per 1,000 populations in the previous seven years. </a:t>
            </a:r>
          </a:p>
          <a:p>
            <a:r>
              <a:rPr lang="en-US" sz="1200" b="0" dirty="0">
                <a:latin typeface="Times New Roman" pitchFamily="18" charset="0"/>
                <a:cs typeface="Times New Roman" pitchFamily="18" charset="0"/>
              </a:rPr>
              <a:t>. In rural areas, there were 3.2 male deaths and 2.4 female deaths per 1,000 populations (EDHS, 2016)</a:t>
            </a:r>
          </a:p>
          <a:p>
            <a:r>
              <a:rPr lang="en-US" sz="1200" b="0" dirty="0">
                <a:latin typeface="Times New Roman" pitchFamily="18" charset="0"/>
                <a:cs typeface="Times New Roman" pitchFamily="18" charset="0"/>
              </a:rPr>
              <a:t>. Female mortality 15-19 years dropped by more than half from about 4.89 deaths per 1000 population in 2000 to 2.2 deaths per 1,000 populations in 2016.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Times New Roman" pitchFamily="18" charset="0"/>
                <a:cs typeface="Times New Roman" pitchFamily="18" charset="0"/>
              </a:rPr>
              <a:t>The risk of mortality in females was found to increase as they enter the reproductive age because of pregnancy-related health problems such as unsafe abortion, pregnancy, and birth complications. Pregnancy-related mortality is 0.39 per 1,000 women for age 15-19 years and 0.64 per 1,000 women for age 20-24 years, which translates to MMR of 293 and 320 per 100,000 live births according to the 2016 EDHS</a:t>
            </a:r>
            <a:endParaRPr lang="en-GB" sz="1200" b="0" dirty="0">
              <a:latin typeface="Times New Roman" pitchFamily="18" charset="0"/>
              <a:cs typeface="Times New Roman" pitchFamily="18" charset="0"/>
            </a:endParaRPr>
          </a:p>
          <a:p>
            <a:endParaRPr lang="en-US" sz="1200" b="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6</a:t>
            </a:fld>
            <a:endParaRPr lang="en-US"/>
          </a:p>
        </p:txBody>
      </p:sp>
    </p:spTree>
    <p:extLst>
      <p:ext uri="{BB962C8B-B14F-4D97-AF65-F5344CB8AC3E}">
        <p14:creationId xmlns:p14="http://schemas.microsoft.com/office/powerpoint/2010/main" val="248371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a:t>
            </a:r>
            <a:r>
              <a:rPr lang="en-US" b="0" baseline="0" dirty="0"/>
              <a:t> the participants read and brainstorm on the questions on the slides</a:t>
            </a:r>
            <a:endParaRPr lang="en-US" b="1" dirty="0"/>
          </a:p>
          <a:p>
            <a:r>
              <a:rPr lang="en-US" b="1" dirty="0"/>
              <a:t>Causes of poor quality</a:t>
            </a:r>
            <a:r>
              <a:rPr lang="en-US" dirty="0"/>
              <a:t>:</a:t>
            </a:r>
          </a:p>
          <a:p>
            <a:pPr marL="171450" indent="-171450">
              <a:buFontTx/>
              <a:buChar char="-"/>
            </a:pPr>
            <a:r>
              <a:rPr lang="en-US" baseline="0" dirty="0"/>
              <a:t>Inadequate resources</a:t>
            </a:r>
          </a:p>
          <a:p>
            <a:pPr marL="171450" indent="-171450">
              <a:buFontTx/>
              <a:buChar char="-"/>
            </a:pPr>
            <a:r>
              <a:rPr lang="en-US" baseline="0" dirty="0"/>
              <a:t>Inadequate knowledge/skills</a:t>
            </a:r>
          </a:p>
          <a:p>
            <a:pPr marL="171450" indent="-171450">
              <a:buFontTx/>
              <a:buChar char="-"/>
            </a:pPr>
            <a:r>
              <a:rPr lang="en-US" baseline="0" dirty="0"/>
              <a:t>Lack of accountability </a:t>
            </a:r>
            <a:r>
              <a:rPr lang="en-US" baseline="0" dirty="0" err="1"/>
              <a:t>e.t.c</a:t>
            </a:r>
            <a:r>
              <a:rPr lang="en-US" baseline="0" dirty="0"/>
              <a:t>.</a:t>
            </a:r>
          </a:p>
          <a:p>
            <a:pPr marL="171450" indent="-171450">
              <a:buFontTx/>
              <a:buChar char="-"/>
            </a:pPr>
            <a:r>
              <a:rPr lang="en-US" baseline="0" dirty="0"/>
              <a:t>All of the above?</a:t>
            </a:r>
          </a:p>
          <a:p>
            <a:pPr marL="0" indent="0">
              <a:buFontTx/>
              <a:buNone/>
            </a:pPr>
            <a:endParaRPr lang="en-US" dirty="0"/>
          </a:p>
        </p:txBody>
      </p:sp>
      <p:sp>
        <p:nvSpPr>
          <p:cNvPr id="4" name="Slide Number Placeholder 3"/>
          <p:cNvSpPr>
            <a:spLocks noGrp="1"/>
          </p:cNvSpPr>
          <p:nvPr>
            <p:ph type="sldNum" sz="quarter" idx="10"/>
          </p:nvPr>
        </p:nvSpPr>
        <p:spPr/>
        <p:txBody>
          <a:bodyPr/>
          <a:lstStyle/>
          <a:p>
            <a:fld id="{35123036-13F6-46B3-9696-5F0E3A9A3572}" type="slidenum">
              <a:rPr lang="en-US" smtClean="0"/>
              <a:t>7</a:t>
            </a:fld>
            <a:endParaRPr lang="en-US"/>
          </a:p>
        </p:txBody>
      </p:sp>
    </p:spTree>
    <p:extLst>
      <p:ext uri="{BB962C8B-B14F-4D97-AF65-F5344CB8AC3E}">
        <p14:creationId xmlns:p14="http://schemas.microsoft.com/office/powerpoint/2010/main" val="2954115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9</a:t>
            </a:fld>
            <a:endParaRPr lang="en-US"/>
          </a:p>
        </p:txBody>
      </p:sp>
    </p:spTree>
    <p:extLst>
      <p:ext uri="{BB962C8B-B14F-4D97-AF65-F5344CB8AC3E}">
        <p14:creationId xmlns:p14="http://schemas.microsoft.com/office/powerpoint/2010/main" val="347788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b="0" dirty="0">
                <a:latin typeface="Times New Roman" pitchFamily="18" charset="0"/>
                <a:cs typeface="Times New Roman" pitchFamily="18" charset="0"/>
              </a:rPr>
              <a:t>Injuries are among the leading causes of death and disability among adolescents and youth with unintentional injuries such as road traffic injuries, physical fight, and burns being the most common. </a:t>
            </a:r>
          </a:p>
          <a:p>
            <a:pPr>
              <a:defRPr/>
            </a:pPr>
            <a:r>
              <a:rPr lang="en-US" sz="1200" b="0" dirty="0">
                <a:latin typeface="Times New Roman" pitchFamily="18" charset="0"/>
                <a:cs typeface="Times New Roman" pitchFamily="18" charset="0"/>
              </a:rPr>
              <a:t>Physical fight, often associated with substance use and other </a:t>
            </a:r>
            <a:r>
              <a:rPr lang="en-US" sz="1200" b="0" dirty="0" err="1">
                <a:latin typeface="Times New Roman" pitchFamily="18" charset="0"/>
                <a:cs typeface="Times New Roman" pitchFamily="18" charset="0"/>
              </a:rPr>
              <a:t>behaviours</a:t>
            </a:r>
            <a:r>
              <a:rPr lang="en-US" sz="1200" b="0" dirty="0">
                <a:latin typeface="Times New Roman" pitchFamily="18" charset="0"/>
                <a:cs typeface="Times New Roman" pitchFamily="18" charset="0"/>
              </a:rPr>
              <a:t>, is common among younger adolescents, more so among boys than girls leading to severe injuries</a:t>
            </a:r>
          </a:p>
          <a:p>
            <a:pPr>
              <a:defRPr/>
            </a:pPr>
            <a:r>
              <a:rPr lang="en-US" sz="1200" b="0" dirty="0">
                <a:latin typeface="Times New Roman" pitchFamily="18" charset="0"/>
                <a:cs typeface="Times New Roman" pitchFamily="18" charset="0"/>
              </a:rPr>
              <a:t>In Ethiopia, injuries due to Road Traffic Accidents (RTA) account for 22.9% of the mortality or injury among adolescents and youth (15-29), the prevalence of RTAs is 2.7% (3.2% male and 2% female) and that of non-RTAs is 2.4% (3% male and 1.6% female) </a:t>
            </a:r>
            <a:endParaRPr lang="en-GB" sz="1200" b="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11</a:t>
            </a:fld>
            <a:endParaRPr lang="en-US"/>
          </a:p>
        </p:txBody>
      </p:sp>
    </p:spTree>
    <p:extLst>
      <p:ext uri="{BB962C8B-B14F-4D97-AF65-F5344CB8AC3E}">
        <p14:creationId xmlns:p14="http://schemas.microsoft.com/office/powerpoint/2010/main" val="2468508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ctr">
              <a:buFont typeface="Arial" charset="0"/>
              <a:buNone/>
              <a:defRPr/>
            </a:pPr>
            <a:r>
              <a:rPr lang="en-US" dirty="0"/>
              <a:t>Malnutrition affects a large portion of the adolescent and youth population in Ethiopia. According to the EDHS 2016, men are generally thinner than women showing a national average of 32.3% prevalence (BMI &lt;18.5) against 22.4% for women. This figure is much high for adolescent boys aged 15-19 years of age (59%) than </a:t>
            </a:r>
            <a:r>
              <a:rPr lang="en-US" dirty="0" err="1"/>
              <a:t>ado</a:t>
            </a:r>
            <a:r>
              <a:rPr lang="en-US" sz="1200" b="1" dirty="0" err="1">
                <a:latin typeface="Times New Roman" pitchFamily="18" charset="0"/>
                <a:cs typeface="Times New Roman" pitchFamily="18" charset="0"/>
              </a:rPr>
              <a:t>Substance</a:t>
            </a:r>
            <a:r>
              <a:rPr lang="en-US" sz="1200" b="1" dirty="0">
                <a:latin typeface="Times New Roman" pitchFamily="18" charset="0"/>
                <a:cs typeface="Times New Roman" pitchFamily="18" charset="0"/>
              </a:rPr>
              <a:t> Use</a:t>
            </a:r>
          </a:p>
          <a:p>
            <a:pPr>
              <a:defRPr/>
            </a:pPr>
            <a:r>
              <a:rPr lang="en-US" sz="1200" b="0" dirty="0">
                <a:latin typeface="Times New Roman" pitchFamily="18" charset="0"/>
                <a:cs typeface="Times New Roman" pitchFamily="18" charset="0"/>
              </a:rPr>
              <a:t>Harmful substance use (tobacco, alcohol and illicit substances) will increase the risk of cancers, cardiovascular diseases, and respiratory illnesses later in life.</a:t>
            </a:r>
          </a:p>
          <a:p>
            <a:pPr>
              <a:defRPr/>
            </a:pPr>
            <a:r>
              <a:rPr lang="en-US" sz="1200" b="0" dirty="0">
                <a:latin typeface="Times New Roman" pitchFamily="18" charset="0"/>
                <a:cs typeface="Times New Roman" pitchFamily="18" charset="0"/>
              </a:rPr>
              <a:t>Use of such substance has shown increment in the last decade. About 37% of girls and 43% of boys aged 15-19 year consume alcohol. About 57% of boys and 37% of girls also chew Khat</a:t>
            </a:r>
            <a:endParaRPr lang="en-GB" sz="1200" b="0" dirty="0">
              <a:solidFill>
                <a:schemeClr val="tx1"/>
              </a:solidFill>
              <a:latin typeface="Times New Roman" pitchFamily="18" charset="0"/>
              <a:cs typeface="Times New Roman" pitchFamily="18" charset="0"/>
            </a:endParaRPr>
          </a:p>
          <a:p>
            <a:r>
              <a:rPr lang="en-US" dirty="0" err="1"/>
              <a:t>lescent</a:t>
            </a:r>
            <a:r>
              <a:rPr lang="en-US" dirty="0"/>
              <a:t> girls (29%).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imes New Roman" pitchFamily="18" charset="0"/>
                <a:cs typeface="Times New Roman" pitchFamily="18" charset="0"/>
              </a:rPr>
              <a:t>the prevalence of underweight is also very high among rural adolescents (31%) compared to their urban counterparts (17%). The pooled prevalence of overweight and obesity among children and adolescents in Ethiopia is substantially high (11.3%) and becoming an emerging nutrition-linked problem.</a:t>
            </a:r>
          </a:p>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13</a:t>
            </a:fld>
            <a:endParaRPr lang="en-US"/>
          </a:p>
        </p:txBody>
      </p:sp>
    </p:spTree>
    <p:extLst>
      <p:ext uri="{BB962C8B-B14F-4D97-AF65-F5344CB8AC3E}">
        <p14:creationId xmlns:p14="http://schemas.microsoft.com/office/powerpoint/2010/main" val="680777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latin typeface="Times New Roman" pitchFamily="18" charset="0"/>
                <a:cs typeface="Times New Roman" pitchFamily="18" charset="0"/>
              </a:rPr>
              <a:t>Mental health disorders account for a large proportion of the disease burden in young people in all societies. </a:t>
            </a:r>
          </a:p>
          <a:p>
            <a:r>
              <a:rPr lang="en-GB" sz="1200" b="0" dirty="0">
                <a:latin typeface="Times New Roman" pitchFamily="18" charset="0"/>
                <a:cs typeface="Times New Roman" pitchFamily="18" charset="0"/>
              </a:rPr>
              <a:t>Most mental disorders begin during adolescence and youth, although they are often first detected later in life. Poor mental health is strongly related to other health and development concerns in young people.</a:t>
            </a:r>
          </a:p>
          <a:p>
            <a:r>
              <a:rPr lang="en-US" sz="1200" b="0" dirty="0">
                <a:latin typeface="Times New Roman" pitchFamily="18" charset="0"/>
                <a:cs typeface="Times New Roman" pitchFamily="18" charset="0"/>
              </a:rPr>
              <a:t>Evidence indicates that about 75% of mental disorders in adulthood have their onset in youth, particularly among that 12 – 24 years of age. </a:t>
            </a:r>
          </a:p>
          <a:p>
            <a:r>
              <a:rPr lang="en-US" sz="1200" b="0" dirty="0">
                <a:latin typeface="Times New Roman" pitchFamily="18" charset="0"/>
                <a:cs typeface="Times New Roman" pitchFamily="18" charset="0"/>
              </a:rPr>
              <a:t>In Ethiopia, mental illness in children and adolescents is estimated to be between 17% and 23%, with lower prevalence in rural settings. </a:t>
            </a:r>
            <a:endParaRPr lang="en-GB" sz="1200" b="0" dirty="0">
              <a:latin typeface="Times New Roman" pitchFamily="18" charset="0"/>
              <a:cs typeface="Times New Roman" pitchFamily="18" charset="0"/>
            </a:endParaRPr>
          </a:p>
          <a:p>
            <a:r>
              <a:rPr lang="en-GB" sz="1200" b="0" dirty="0">
                <a:solidFill>
                  <a:schemeClr val="tx1"/>
                </a:solidFill>
                <a:latin typeface="Times New Roman" pitchFamily="18" charset="0"/>
                <a:cs typeface="Times New Roman" pitchFamily="18" charset="0"/>
              </a:rPr>
              <a:t>the major sexual and reproductive health problems of adolescents and youth in Ethiopia include early sexual debut, risky sexual practices, child marriage, early child bearing, unintended pregnancy, unsafe abortion and STIs including HIV.</a:t>
            </a:r>
          </a:p>
          <a:p>
            <a:r>
              <a:rPr lang="en-US" sz="1200" b="0" dirty="0">
                <a:solidFill>
                  <a:schemeClr val="tx1"/>
                </a:solidFill>
                <a:latin typeface="Times New Roman" pitchFamily="18" charset="0"/>
                <a:cs typeface="Times New Roman" pitchFamily="18" charset="0"/>
              </a:rPr>
              <a:t>Adolescent and youth morbidity in connection to early engagement in sexual activity has been detrimental. According to the PMA survey result from 2019, the median age at first sex is at 16.4years and the median age for first marriage is 17.8 years for rural girls which are lower compared to adolescent girls in urban areas.</a:t>
            </a:r>
            <a:endParaRPr lang="en-GB" sz="1200" b="0" dirty="0">
              <a:solidFill>
                <a:schemeClr val="tx1"/>
              </a:solidFill>
              <a:latin typeface="Times New Roman" pitchFamily="18" charset="0"/>
              <a:cs typeface="Times New Roman" pitchFamily="18" charset="0"/>
            </a:endParaRPr>
          </a:p>
          <a:p>
            <a:pPr>
              <a:buFont typeface="Wingdings" pitchFamily="2" charset="2"/>
              <a:buChar char="q"/>
            </a:pPr>
            <a:r>
              <a:rPr lang="en-US" sz="1200" b="0" dirty="0">
                <a:solidFill>
                  <a:schemeClr val="tx1"/>
                </a:solidFill>
                <a:latin typeface="Times New Roman" pitchFamily="18" charset="0"/>
                <a:cs typeface="Times New Roman" pitchFamily="18" charset="0"/>
              </a:rPr>
              <a:t>In Ethiopia, there has been a uniform decline in the Age-Specific-Fertility-Rate (ASFR). In 2019, the ASFR for the age group 15-19 years is 72 births per 1,000 women and peaks to 202 births per 1,000 women in the age group of 25-29 years and then drops to 14 births per 1,000 women in the age group of 45-49 years. </a:t>
            </a:r>
          </a:p>
          <a:p>
            <a:pPr>
              <a:buFont typeface="Wingdings" pitchFamily="2" charset="2"/>
              <a:buChar char="q"/>
            </a:pPr>
            <a:r>
              <a:rPr lang="en-US" sz="1200" b="0" dirty="0">
                <a:solidFill>
                  <a:schemeClr val="tx1"/>
                </a:solidFill>
                <a:latin typeface="Times New Roman" pitchFamily="18" charset="0"/>
                <a:cs typeface="Times New Roman" pitchFamily="18" charset="0"/>
              </a:rPr>
              <a:t> The adolescent fertility rate also varies across the regions of Ethiopia. According to the EDHS 2016, the adolescent fertility rate for the age group 15-19 years is highest in Afar at 152 births per 1,000 women and lowest in Addis Ababa at 13 births per 1,000 women. </a:t>
            </a:r>
          </a:p>
          <a:p>
            <a:pPr>
              <a:buFont typeface="Wingdings" pitchFamily="2" charset="2"/>
              <a:buChar char="q"/>
            </a:pPr>
            <a:r>
              <a:rPr lang="en-US" sz="1200" b="0" dirty="0">
                <a:solidFill>
                  <a:schemeClr val="tx1"/>
                </a:solidFill>
                <a:latin typeface="Times New Roman" pitchFamily="18" charset="0"/>
                <a:cs typeface="Times New Roman" pitchFamily="18" charset="0"/>
              </a:rPr>
              <a:t>ASFRs are lower in urban areas compared to rural areas among women in all age groups. On average, rural women have 1.3 more children than urban women (4.5 versus 3.2 children), the disparity between urban and rural has narrowed over the last 3 years</a:t>
            </a:r>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15</a:t>
            </a:fld>
            <a:endParaRPr lang="en-US"/>
          </a:p>
        </p:txBody>
      </p:sp>
    </p:spTree>
    <p:extLst>
      <p:ext uri="{BB962C8B-B14F-4D97-AF65-F5344CB8AC3E}">
        <p14:creationId xmlns:p14="http://schemas.microsoft.com/office/powerpoint/2010/main" val="702539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itchFamily="2" charset="2"/>
              <a:buChar char="v"/>
            </a:pPr>
            <a:r>
              <a:rPr lang="en-US" sz="1200" b="0" dirty="0">
                <a:solidFill>
                  <a:schemeClr val="tx1"/>
                </a:solidFill>
                <a:latin typeface="Times New Roman" pitchFamily="18" charset="0"/>
                <a:cs typeface="Times New Roman" pitchFamily="18" charset="0"/>
              </a:rPr>
              <a:t>The current CPR, EDHS 2016, for adolescents 15-19 years and youth 20-24 years is 57.5% and 52.5% respectively while unmet need for FP for same age groups is 20.5% and 18.5% respectively.</a:t>
            </a:r>
          </a:p>
          <a:p>
            <a:pPr>
              <a:buFont typeface="Wingdings" pitchFamily="2" charset="2"/>
              <a:buChar char="v"/>
            </a:pPr>
            <a:r>
              <a:rPr lang="en-US" sz="1200" b="0" dirty="0">
                <a:solidFill>
                  <a:schemeClr val="tx1"/>
                </a:solidFill>
                <a:latin typeface="Times New Roman" pitchFamily="18" charset="0"/>
                <a:cs typeface="Times New Roman" pitchFamily="18" charset="0"/>
              </a:rPr>
              <a:t> Lack of skilled care during pregnancy and delivery in this age group also poses significant  health risk to the mothers and their children compared to older women in the reproductive age group. The coverage of ANC4+ and ANC8+ for Ethiopian adolescent age below 20 years is 36.4% and 1.3% respectively and only 53.6% of adolescent deliveries are by skilled health personnel.</a:t>
            </a:r>
            <a:endParaRPr lang="en-GB" sz="1200" b="0" dirty="0">
              <a:solidFill>
                <a:schemeClr val="tx1"/>
              </a:solidFill>
              <a:latin typeface="Times New Roman" pitchFamily="18" charset="0"/>
              <a:cs typeface="Times New Roman" pitchFamily="18" charset="0"/>
            </a:endParaRPr>
          </a:p>
          <a:p>
            <a:pPr>
              <a:buFont typeface="Wingdings" pitchFamily="2" charset="2"/>
              <a:buChar char="v"/>
            </a:pPr>
            <a:r>
              <a:rPr lang="en-US" sz="1200" b="1" dirty="0">
                <a:solidFill>
                  <a:schemeClr val="bg2">
                    <a:lumMod val="50000"/>
                  </a:schemeClr>
                </a:solidFill>
                <a:latin typeface="Times New Roman" pitchFamily="18" charset="0"/>
                <a:cs typeface="Times New Roman" pitchFamily="18" charset="0"/>
              </a:rPr>
              <a:t> Evidence indicates that there is increased risk of acquiring STIs and HIV among adolescents and youth due to the early initiation of sexual intercourse and higher-risk sexual behavior such as having sexual intercourse with multiple partners or somebody who is neither a spouse nor a cohabiting partner without use of condom. </a:t>
            </a:r>
            <a:endParaRPr lang="en-GB" sz="1200" b="1" dirty="0">
              <a:solidFill>
                <a:schemeClr val="bg2">
                  <a:lumMod val="50000"/>
                </a:schemeClr>
              </a:solidFill>
              <a:latin typeface="Times New Roman" pitchFamily="18" charset="0"/>
              <a:cs typeface="Times New Roman" pitchFamily="18" charset="0"/>
            </a:endParaRPr>
          </a:p>
          <a:p>
            <a:pPr>
              <a:buFont typeface="Wingdings" pitchFamily="2" charset="2"/>
              <a:buChar char="ü"/>
              <a:defRPr/>
            </a:pPr>
            <a:r>
              <a:rPr lang="en-US" sz="1200" b="0" dirty="0">
                <a:latin typeface="Times New Roman" pitchFamily="18" charset="0"/>
                <a:cs typeface="Times New Roman" pitchFamily="18" charset="0"/>
              </a:rPr>
              <a:t>Studies indicate that NCDs is an emerging epidemic in Ethiopia and other low- and middle-income countries because of the increasing urbanization and the related changes in lifestyle and dietary habits.</a:t>
            </a:r>
          </a:p>
          <a:p>
            <a:pPr>
              <a:buFont typeface="Wingdings" pitchFamily="2" charset="2"/>
              <a:buChar char="ü"/>
              <a:defRPr/>
            </a:pPr>
            <a:r>
              <a:rPr lang="en-US" sz="1200" b="0" dirty="0">
                <a:latin typeface="Times New Roman" pitchFamily="18" charset="0"/>
                <a:cs typeface="Times New Roman" pitchFamily="18" charset="0"/>
              </a:rPr>
              <a:t> In Ethiopia, Non-communicable diseases (NCDs) are recognized as emerging public health problems which accounts for 30% of deaths in 2014. In a study conducted among working adults in Addis Ababa, the prevalence of diabetes mellitus was 6.5% and the prevalence of hypertension was 19.1% with a higher proportion among males (22%)</a:t>
            </a:r>
            <a:endParaRPr lang="en-GB" sz="1200" b="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18</a:t>
            </a:fld>
            <a:endParaRPr lang="en-US"/>
          </a:p>
        </p:txBody>
      </p:sp>
    </p:spTree>
    <p:extLst>
      <p:ext uri="{BB962C8B-B14F-4D97-AF65-F5344CB8AC3E}">
        <p14:creationId xmlns:p14="http://schemas.microsoft.com/office/powerpoint/2010/main" val="976497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itchFamily="2" charset="2"/>
              <a:buChar char="Ø"/>
            </a:pPr>
            <a:r>
              <a:rPr lang="en-US" sz="1200" b="0" dirty="0">
                <a:solidFill>
                  <a:schemeClr val="tx1"/>
                </a:solidFill>
                <a:latin typeface="Times New Roman" pitchFamily="18" charset="0"/>
                <a:cs typeface="Times New Roman" pitchFamily="18" charset="0"/>
              </a:rPr>
              <a:t>Female genital mutilation/cutting (FGM/C), child marriage, forceful abduction and domestic violence are the most widely practiced forms of HTPs that are classified as serious crimes by the Ethiopian Law.</a:t>
            </a:r>
          </a:p>
          <a:p>
            <a:pPr>
              <a:buFont typeface="Wingdings" pitchFamily="2" charset="2"/>
              <a:buChar char="Ø"/>
            </a:pPr>
            <a:r>
              <a:rPr lang="en-US" sz="1200" b="0" dirty="0">
                <a:solidFill>
                  <a:schemeClr val="tx1"/>
                </a:solidFill>
                <a:latin typeface="Times New Roman" pitchFamily="18" charset="0"/>
                <a:cs typeface="Times New Roman" pitchFamily="18" charset="0"/>
              </a:rPr>
              <a:t> There are indications that attitudes towards FGM are changing and its prevalence is declining in Ethiopia. Similarly, the prevalence of FGM in some regions (Somali and Afar) is almost universal (91%-99%), giving the national prevalence rate of 65% among women of 15-49 years. </a:t>
            </a:r>
          </a:p>
          <a:p>
            <a:pPr>
              <a:buFont typeface="Wingdings" pitchFamily="2" charset="2"/>
              <a:buChar char="Ø"/>
            </a:pPr>
            <a:r>
              <a:rPr lang="en-US" sz="1200" b="0" dirty="0">
                <a:solidFill>
                  <a:schemeClr val="tx1"/>
                </a:solidFill>
                <a:latin typeface="Times New Roman" pitchFamily="18" charset="0"/>
                <a:cs typeface="Times New Roman" pitchFamily="18" charset="0"/>
              </a:rPr>
              <a:t> The promising part is that the national prevalence of FGM in children aged 0-14 years has declined to 16%, but far from ending. The prevalence of FGM in aged 15-19 years has also declined from 71% in 2000 to 47% in 2016. </a:t>
            </a:r>
            <a:endParaRPr lang="en-GB" sz="1200" b="0" dirty="0">
              <a:solidFill>
                <a:schemeClr val="tx1"/>
              </a:solidFill>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20</a:t>
            </a:fld>
            <a:endParaRPr lang="en-US"/>
          </a:p>
        </p:txBody>
      </p:sp>
    </p:spTree>
    <p:extLst>
      <p:ext uri="{BB962C8B-B14F-4D97-AF65-F5344CB8AC3E}">
        <p14:creationId xmlns:p14="http://schemas.microsoft.com/office/powerpoint/2010/main" val="1132106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Injuries:</a:t>
            </a:r>
            <a:r>
              <a:rPr lang="en-US" altLang="en-US" dirty="0"/>
              <a:t> In Ethiopia, injuries due to road traffic accidents (RTA), physical fights and drowning account for 9% of the mortality caused by NCDs. Among adolescents and youth (15-29), the prevalence of RTAs is 2.7% (3.2% male and 2% female) and that of non-RTAs is 2.4% (3% male and 1.6% female). The common non road traffic accidents are fall, burn, poisoning, cut, drowning, animal bites and violent injuries</a:t>
            </a:r>
          </a:p>
          <a:p>
            <a:r>
              <a:rPr lang="en-US" altLang="en-US" dirty="0"/>
              <a:t>For instance, according to the EDHS 2011, 68% of married women accept that a husband is justified for beating his wife. Moreover, more than half of married adolescent women aged 15-19 do not know that there is law against domestic violence; which is consistent in all age groups.</a:t>
            </a:r>
            <a:endParaRPr lang="en-GB" altLang="en-US" dirty="0"/>
          </a:p>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22</a:t>
            </a:fld>
            <a:endParaRPr lang="en-US"/>
          </a:p>
        </p:txBody>
      </p:sp>
    </p:spTree>
    <p:extLst>
      <p:ext uri="{BB962C8B-B14F-4D97-AF65-F5344CB8AC3E}">
        <p14:creationId xmlns:p14="http://schemas.microsoft.com/office/powerpoint/2010/main" val="4204840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b="0" dirty="0">
                <a:solidFill>
                  <a:schemeClr val="tx1"/>
                </a:solidFill>
                <a:latin typeface="Times New Roman" pitchFamily="18" charset="0"/>
                <a:cs typeface="Times New Roman" pitchFamily="18" charset="0"/>
              </a:rPr>
              <a:t>The 2030 Agenda for Sustainable Development cannot be achieved without investment in adolescent health and well-being. </a:t>
            </a:r>
            <a:r>
              <a:rPr lang="en-US" sz="1200" b="1" dirty="0">
                <a:solidFill>
                  <a:schemeClr val="bg2">
                    <a:lumMod val="25000"/>
                  </a:schemeClr>
                </a:solidFill>
                <a:latin typeface="Times New Roman" pitchFamily="18" charset="0"/>
                <a:cs typeface="Times New Roman" pitchFamily="18" charset="0"/>
              </a:rPr>
              <a:t>There are at least five arguments why investing in adolescent health is indispensable.</a:t>
            </a:r>
          </a:p>
          <a:p>
            <a:pPr marL="0" indent="0">
              <a:buFont typeface="Arial" charset="0"/>
              <a:buNone/>
              <a:defRPr/>
            </a:pPr>
            <a:r>
              <a:rPr lang="en-US" sz="1200" dirty="0">
                <a:solidFill>
                  <a:schemeClr val="tx1"/>
                </a:solidFill>
                <a:latin typeface="Times New Roman" pitchFamily="18" charset="0"/>
                <a:cs typeface="Times New Roman" pitchFamily="18" charset="0"/>
              </a:rPr>
              <a:t>1. </a:t>
            </a:r>
            <a:r>
              <a:rPr lang="en-US" sz="1200" b="1" dirty="0">
                <a:solidFill>
                  <a:schemeClr val="tx1"/>
                </a:solidFill>
                <a:latin typeface="Times New Roman" pitchFamily="18" charset="0"/>
                <a:cs typeface="Times New Roman" pitchFamily="18" charset="0"/>
              </a:rPr>
              <a:t>Adolescents have the fundamental right to health </a:t>
            </a:r>
            <a:endParaRPr lang="en-GB" sz="1200" b="1" dirty="0">
              <a:solidFill>
                <a:schemeClr val="tx1"/>
              </a:solidFill>
              <a:latin typeface="Times New Roman" pitchFamily="18" charset="0"/>
              <a:cs typeface="Times New Roman" pitchFamily="18" charset="0"/>
            </a:endParaRPr>
          </a:p>
          <a:p>
            <a:pPr>
              <a:buFont typeface="Wingdings" pitchFamily="2" charset="2"/>
              <a:buChar char="§"/>
              <a:defRPr/>
            </a:pPr>
            <a:r>
              <a:rPr lang="en-US" sz="1200" b="0" dirty="0">
                <a:solidFill>
                  <a:schemeClr val="tx1"/>
                </a:solidFill>
                <a:latin typeface="Times New Roman" pitchFamily="18" charset="0"/>
                <a:cs typeface="Times New Roman" pitchFamily="18" charset="0"/>
              </a:rPr>
              <a:t>Adolescents, like all people, have fundamental rights to life, development, the highest achievable standards of health and access to health services. Yet they suffer a high burden of disease from preventable causes, mainly related to unintentional injuries; violence; sexual and reproductive health, including HIV; communicable diseases such as acute respiratory infections and diarrheal diseases; non-communicable diseases, poor nutrition and lack of physical activity; mental health, substance use and self-harm </a:t>
            </a:r>
            <a:endParaRPr lang="en-GB" sz="1200" b="0" dirty="0">
              <a:solidFill>
                <a:schemeClr val="tx1"/>
              </a:solidFill>
              <a:latin typeface="Times New Roman" pitchFamily="18" charset="0"/>
              <a:cs typeface="Times New Roman" pitchFamily="18" charset="0"/>
            </a:endParaRPr>
          </a:p>
          <a:p>
            <a:pPr>
              <a:buFont typeface="Wingdings" pitchFamily="2" charset="2"/>
              <a:buChar char="Ø"/>
            </a:pPr>
            <a:r>
              <a:rPr lang="en-US" sz="1200" b="1" dirty="0">
                <a:solidFill>
                  <a:schemeClr val="tx1"/>
                </a:solidFill>
                <a:latin typeface="Times New Roman" pitchFamily="18" charset="0"/>
                <a:cs typeface="Times New Roman" pitchFamily="18" charset="0"/>
              </a:rPr>
              <a:t>For adolescents now: </a:t>
            </a:r>
            <a:r>
              <a:rPr lang="en-US" sz="1200" b="0" dirty="0">
                <a:solidFill>
                  <a:schemeClr val="tx1"/>
                </a:solidFill>
                <a:latin typeface="Times New Roman" pitchFamily="18" charset="0"/>
                <a:cs typeface="Times New Roman" pitchFamily="18" charset="0"/>
              </a:rPr>
              <a:t>adolescent health is immediately benefited by promotion of positive </a:t>
            </a:r>
            <a:r>
              <a:rPr lang="en-US" sz="1200" b="0" dirty="0" err="1">
                <a:solidFill>
                  <a:schemeClr val="tx1"/>
                </a:solidFill>
                <a:latin typeface="Times New Roman" pitchFamily="18" charset="0"/>
                <a:cs typeface="Times New Roman" pitchFamily="18" charset="0"/>
              </a:rPr>
              <a:t>behaviours</a:t>
            </a:r>
            <a:r>
              <a:rPr lang="en-US" sz="1200" b="0" dirty="0">
                <a:solidFill>
                  <a:schemeClr val="tx1"/>
                </a:solidFill>
                <a:latin typeface="Times New Roman" pitchFamily="18" charset="0"/>
                <a:cs typeface="Times New Roman" pitchFamily="18" charset="0"/>
              </a:rPr>
              <a:t> and by prevention, early detection and treatment of problems.</a:t>
            </a:r>
          </a:p>
          <a:p>
            <a:pPr>
              <a:buFont typeface="Wingdings" pitchFamily="2" charset="2"/>
              <a:buChar char="Ø"/>
            </a:pPr>
            <a:r>
              <a:rPr lang="en-US" sz="1200" b="1" dirty="0">
                <a:solidFill>
                  <a:schemeClr val="tx1"/>
                </a:solidFill>
                <a:latin typeface="Times New Roman" pitchFamily="18" charset="0"/>
                <a:cs typeface="Times New Roman" pitchFamily="18" charset="0"/>
              </a:rPr>
              <a:t> For adolescents’ future lives: </a:t>
            </a:r>
            <a:r>
              <a:rPr lang="en-US" sz="1200" b="0" dirty="0">
                <a:solidFill>
                  <a:schemeClr val="tx1"/>
                </a:solidFill>
                <a:latin typeface="Times New Roman" pitchFamily="18" charset="0"/>
                <a:cs typeface="Times New Roman" pitchFamily="18" charset="0"/>
              </a:rPr>
              <a:t>to help set a pattern of healthy lifestyles and reduce morbidity, disability and premature mortality later in adulthood, support is needed to establish healthy </a:t>
            </a:r>
            <a:r>
              <a:rPr lang="en-US" sz="1200" b="0" dirty="0" err="1">
                <a:solidFill>
                  <a:schemeClr val="tx1"/>
                </a:solidFill>
                <a:latin typeface="Times New Roman" pitchFamily="18" charset="0"/>
                <a:cs typeface="Times New Roman" pitchFamily="18" charset="0"/>
              </a:rPr>
              <a:t>behaviours</a:t>
            </a:r>
            <a:r>
              <a:rPr lang="en-US" sz="1200" b="0" dirty="0">
                <a:solidFill>
                  <a:schemeClr val="tx1"/>
                </a:solidFill>
                <a:latin typeface="Times New Roman" pitchFamily="18" charset="0"/>
                <a:cs typeface="Times New Roman" pitchFamily="18" charset="0"/>
              </a:rPr>
              <a:t> in adolescence and reduce harmful exposures, conditions and </a:t>
            </a:r>
            <a:r>
              <a:rPr lang="en-US" sz="1200" b="0" dirty="0" err="1">
                <a:solidFill>
                  <a:schemeClr val="tx1"/>
                </a:solidFill>
                <a:latin typeface="Times New Roman" pitchFamily="18" charset="0"/>
                <a:cs typeface="Times New Roman" pitchFamily="18" charset="0"/>
              </a:rPr>
              <a:t>behaviours</a:t>
            </a:r>
            <a:r>
              <a:rPr lang="en-US" sz="1200" b="0" dirty="0">
                <a:solidFill>
                  <a:schemeClr val="tx1"/>
                </a:solidFill>
                <a:latin typeface="Times New Roman" pitchFamily="18" charset="0"/>
                <a:cs typeface="Times New Roman" pitchFamily="18" charset="0"/>
              </a:rPr>
              <a:t>.</a:t>
            </a:r>
          </a:p>
          <a:p>
            <a:pPr>
              <a:buFont typeface="Wingdings" pitchFamily="2" charset="2"/>
              <a:buChar char="Ø"/>
            </a:pPr>
            <a:r>
              <a:rPr lang="en-US" sz="1200" b="0" dirty="0">
                <a:solidFill>
                  <a:schemeClr val="tx1"/>
                </a:solidFill>
                <a:latin typeface="Times New Roman" pitchFamily="18" charset="0"/>
                <a:cs typeface="Times New Roman" pitchFamily="18" charset="0"/>
              </a:rPr>
              <a:t> </a:t>
            </a:r>
            <a:r>
              <a:rPr lang="en-US" sz="1200" b="1" dirty="0">
                <a:solidFill>
                  <a:schemeClr val="tx1"/>
                </a:solidFill>
                <a:latin typeface="Times New Roman" pitchFamily="18" charset="0"/>
                <a:cs typeface="Times New Roman" pitchFamily="18" charset="0"/>
              </a:rPr>
              <a:t>For the next generation</a:t>
            </a:r>
            <a:r>
              <a:rPr lang="en-US" sz="1200" dirty="0">
                <a:solidFill>
                  <a:schemeClr val="tx1"/>
                </a:solidFill>
                <a:latin typeface="Times New Roman" pitchFamily="18" charset="0"/>
                <a:cs typeface="Times New Roman" pitchFamily="18" charset="0"/>
              </a:rPr>
              <a:t>: </a:t>
            </a:r>
            <a:r>
              <a:rPr lang="en-US" sz="1200" b="0" dirty="0">
                <a:solidFill>
                  <a:schemeClr val="tx1"/>
                </a:solidFill>
                <a:latin typeface="Times New Roman" pitchFamily="18" charset="0"/>
                <a:cs typeface="Times New Roman" pitchFamily="18" charset="0"/>
              </a:rPr>
              <a:t>the health of future off-springs can be protected by promoting emotional well-being and healthy practices in adolescence and preventing risk factors and burdens.</a:t>
            </a:r>
            <a:endParaRPr lang="en-GB" sz="1200" b="0" dirty="0">
              <a:solidFill>
                <a:schemeClr val="tx1"/>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imes New Roman" pitchFamily="18" charset="0"/>
                <a:cs typeface="Times New Roman" pitchFamily="18" charset="0"/>
              </a:rPr>
              <a:t>Gains made through substantial investment in maternal and child health </a:t>
            </a:r>
            <a:r>
              <a:rPr lang="en-US" sz="1200" b="0" dirty="0" err="1">
                <a:solidFill>
                  <a:schemeClr val="tx1"/>
                </a:solidFill>
                <a:latin typeface="Times New Roman" pitchFamily="18" charset="0"/>
                <a:cs typeface="Times New Roman" pitchFamily="18" charset="0"/>
              </a:rPr>
              <a:t>programmes</a:t>
            </a:r>
            <a:r>
              <a:rPr lang="en-US" sz="1200" b="0" dirty="0">
                <a:solidFill>
                  <a:schemeClr val="tx1"/>
                </a:solidFill>
                <a:latin typeface="Times New Roman" pitchFamily="18" charset="0"/>
                <a:cs typeface="Times New Roman" pitchFamily="18" charset="0"/>
              </a:rPr>
              <a:t> over recent decades are at risk of being lost if there is insufficient investment in adolescent health programming today. Investment in adolescent health will build on earlier gains in young child health, and will sustain those investments.</a:t>
            </a:r>
            <a:endParaRPr lang="en-GB" sz="1200" b="0" dirty="0">
              <a:solidFill>
                <a:schemeClr val="tx1"/>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dirty="0">
                <a:solidFill>
                  <a:schemeClr val="tx1"/>
                </a:solidFill>
                <a:latin typeface="Times New Roman" pitchFamily="18" charset="0"/>
                <a:cs typeface="Times New Roman" pitchFamily="18" charset="0"/>
              </a:rPr>
              <a:t>Adolescence is one of the most rapidly changing, formative phases of human development. The range of determinants that influence human health take particular forms and have unique impacts in adolescence.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imes New Roman" pitchFamily="18" charset="0"/>
                <a:cs typeface="Times New Roman" pitchFamily="18" charset="0"/>
              </a:rPr>
              <a:t>Adolescents are one sixth of the world’s population and account for 6% of the world’s global burden of disease and injury. In 2015, more than 1.2 million adolescents died. Causes of death and disability-adjusted life years (DALYs) lost differ between younger (10-14 year old) and older (15-19 year old) adolescents and between males and females. Overall rates of death and DALYs lost are higher for males than females and are particularly high for older adolescent boys and young males.</a:t>
            </a:r>
            <a:endParaRPr lang="en-GB" sz="1200" b="0" dirty="0">
              <a:solidFill>
                <a:schemeClr val="tx1"/>
              </a:solidFill>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35123036-13F6-46B3-9696-5F0E3A9A3572}" type="slidenum">
              <a:rPr lang="en-US" smtClean="0"/>
              <a:t>24</a:t>
            </a:fld>
            <a:endParaRPr lang="en-US"/>
          </a:p>
        </p:txBody>
      </p:sp>
    </p:spTree>
    <p:extLst>
      <p:ext uri="{BB962C8B-B14F-4D97-AF65-F5344CB8AC3E}">
        <p14:creationId xmlns:p14="http://schemas.microsoft.com/office/powerpoint/2010/main" val="525956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Jhpiego_External_Main2"/>
          <p:cNvPicPr>
            <a:picLocks noChangeAspect="1" noChangeArrowheads="1"/>
          </p:cNvPicPr>
          <p:nvPr/>
        </p:nvPicPr>
        <p:blipFill>
          <a:blip r:embed="rId2">
            <a:extLst>
              <a:ext uri="{28A0092B-C50C-407E-A947-70E740481C1C}">
                <a14:useLocalDpi xmlns:a14="http://schemas.microsoft.com/office/drawing/2010/main" val="0"/>
              </a:ext>
            </a:extLst>
          </a:blip>
          <a:srcRect r="38950" b="25259"/>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1" name="Rectangle 3"/>
          <p:cNvSpPr>
            <a:spLocks noGrp="1" noChangeArrowheads="1"/>
          </p:cNvSpPr>
          <p:nvPr>
            <p:ph type="ctrTitle"/>
          </p:nvPr>
        </p:nvSpPr>
        <p:spPr>
          <a:xfrm>
            <a:off x="609600" y="2590800"/>
            <a:ext cx="7924800" cy="1165225"/>
          </a:xfrm>
        </p:spPr>
        <p:txBody>
          <a:bodyPr/>
          <a:lstStyle>
            <a:lvl1pPr algn="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94212" name="Rectangle 4"/>
          <p:cNvSpPr>
            <a:spLocks noGrp="1" noChangeArrowheads="1"/>
          </p:cNvSpPr>
          <p:nvPr>
            <p:ph type="subTitle" idx="1"/>
          </p:nvPr>
        </p:nvSpPr>
        <p:spPr>
          <a:xfrm>
            <a:off x="3733800" y="4343400"/>
            <a:ext cx="4800600" cy="1752600"/>
          </a:xfrm>
        </p:spPr>
        <p:txBody>
          <a:bodyPr/>
          <a:lstStyle>
            <a:lvl1pPr marL="0" indent="0" algn="r">
              <a:buFont typeface="Wingdings" pitchFamily="2" charset="2"/>
              <a:buNone/>
              <a:defRPr sz="2000" b="1">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subtitle style</a:t>
            </a:r>
          </a:p>
        </p:txBody>
      </p:sp>
    </p:spTree>
    <p:extLst>
      <p:ext uri="{BB962C8B-B14F-4D97-AF65-F5344CB8AC3E}">
        <p14:creationId xmlns:p14="http://schemas.microsoft.com/office/powerpoint/2010/main" val="1054973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1074553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649282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3" name="Content Placeholder 2"/>
          <p:cNvSpPr>
            <a:spLocks noGrp="1"/>
          </p:cNvSpPr>
          <p:nvPr>
            <p:ph sz="half" idx="1"/>
          </p:nvPr>
        </p:nvSpPr>
        <p:spPr>
          <a:xfrm>
            <a:off x="457200" y="1600200"/>
            <a:ext cx="4038600" cy="4114800"/>
          </a:xfrm>
        </p:spPr>
        <p:txBody>
          <a:bodyPr/>
          <a:lstStyle>
            <a:lvl1pPr>
              <a:defRPr sz="2800">
                <a:latin typeface="Tahoma" panose="020B0604030504040204" pitchFamily="34" charset="0"/>
                <a:ea typeface="Tahoma" panose="020B0604030504040204" pitchFamily="34" charset="0"/>
                <a:cs typeface="Tahoma" panose="020B0604030504040204" pitchFamily="34" charset="0"/>
              </a:defRPr>
            </a:lvl1pPr>
            <a:lvl2pPr>
              <a:defRPr sz="2400">
                <a:latin typeface="Tahoma" panose="020B0604030504040204" pitchFamily="34" charset="0"/>
                <a:ea typeface="Tahoma" panose="020B0604030504040204" pitchFamily="34" charset="0"/>
                <a:cs typeface="Tahoma" panose="020B0604030504040204" pitchFamily="34" charset="0"/>
              </a:defRPr>
            </a:lvl2pPr>
            <a:lvl3pPr>
              <a:defRPr sz="2000">
                <a:latin typeface="Tahoma" panose="020B0604030504040204" pitchFamily="34" charset="0"/>
                <a:ea typeface="Tahoma" panose="020B0604030504040204" pitchFamily="34" charset="0"/>
                <a:cs typeface="Tahoma" panose="020B0604030504040204" pitchFamily="34" charset="0"/>
              </a:defRPr>
            </a:lvl3pPr>
            <a:lvl4pPr>
              <a:defRPr sz="1800">
                <a:latin typeface="Tahoma" panose="020B0604030504040204" pitchFamily="34" charset="0"/>
                <a:ea typeface="Tahoma" panose="020B0604030504040204" pitchFamily="34" charset="0"/>
                <a:cs typeface="Tahoma" panose="020B0604030504040204" pitchFamily="34" charset="0"/>
              </a:defRPr>
            </a:lvl4pPr>
            <a:lvl5pPr>
              <a:defRPr sz="1800">
                <a:latin typeface="Tahoma" panose="020B0604030504040204" pitchFamily="34" charset="0"/>
                <a:ea typeface="Tahoma" panose="020B0604030504040204" pitchFamily="34" charset="0"/>
                <a:cs typeface="Tahoma" panose="020B060403050404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114800"/>
          </a:xfrm>
        </p:spPr>
        <p:txBody>
          <a:bodyPr/>
          <a:lstStyle>
            <a:lvl1pPr>
              <a:defRPr sz="2800">
                <a:latin typeface="Tahoma" panose="020B0604030504040204" pitchFamily="34" charset="0"/>
                <a:ea typeface="Tahoma" panose="020B0604030504040204" pitchFamily="34" charset="0"/>
                <a:cs typeface="Tahoma" panose="020B0604030504040204" pitchFamily="34" charset="0"/>
              </a:defRPr>
            </a:lvl1pPr>
            <a:lvl2pPr>
              <a:defRPr sz="2400">
                <a:latin typeface="Tahoma" panose="020B0604030504040204" pitchFamily="34" charset="0"/>
                <a:ea typeface="Tahoma" panose="020B0604030504040204" pitchFamily="34" charset="0"/>
                <a:cs typeface="Tahoma" panose="020B0604030504040204" pitchFamily="34" charset="0"/>
              </a:defRPr>
            </a:lvl2pPr>
            <a:lvl3pPr>
              <a:defRPr sz="2000">
                <a:latin typeface="Tahoma" panose="020B0604030504040204" pitchFamily="34" charset="0"/>
                <a:ea typeface="Tahoma" panose="020B0604030504040204" pitchFamily="34" charset="0"/>
                <a:cs typeface="Tahoma" panose="020B0604030504040204" pitchFamily="34" charset="0"/>
              </a:defRPr>
            </a:lvl3pPr>
            <a:lvl4pPr>
              <a:defRPr sz="1800">
                <a:latin typeface="Tahoma" panose="020B0604030504040204" pitchFamily="34" charset="0"/>
                <a:ea typeface="Tahoma" panose="020B0604030504040204" pitchFamily="34" charset="0"/>
                <a:cs typeface="Tahoma" panose="020B0604030504040204" pitchFamily="34" charset="0"/>
              </a:defRPr>
            </a:lvl4pPr>
            <a:lvl5pPr>
              <a:defRPr sz="1800">
                <a:latin typeface="Tahoma" panose="020B0604030504040204" pitchFamily="34" charset="0"/>
                <a:ea typeface="Tahoma" panose="020B0604030504040204" pitchFamily="34" charset="0"/>
                <a:cs typeface="Tahoma" panose="020B060403050404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2920615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Tahoma" panose="020B0604030504040204" pitchFamily="34" charset="0"/>
                <a:ea typeface="Tahoma" panose="020B0604030504040204" pitchFamily="34" charset="0"/>
                <a:cs typeface="Tahoma" panose="020B0604030504040204" pitchFamily="34" charset="0"/>
              </a:defRPr>
            </a:lvl1pPr>
            <a:lvl2pPr>
              <a:defRPr sz="2000">
                <a:latin typeface="Tahoma" panose="020B0604030504040204" pitchFamily="34" charset="0"/>
                <a:ea typeface="Tahoma" panose="020B0604030504040204" pitchFamily="34" charset="0"/>
                <a:cs typeface="Tahoma" panose="020B0604030504040204" pitchFamily="34" charset="0"/>
              </a:defRPr>
            </a:lvl2pPr>
            <a:lvl3pPr>
              <a:defRPr sz="18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Tahoma" panose="020B0604030504040204" pitchFamily="34" charset="0"/>
                <a:ea typeface="Tahoma" panose="020B0604030504040204" pitchFamily="34" charset="0"/>
                <a:cs typeface="Tahoma" panose="020B0604030504040204" pitchFamily="34" charset="0"/>
              </a:defRPr>
            </a:lvl1pPr>
            <a:lvl2pPr>
              <a:defRPr sz="2000">
                <a:latin typeface="Tahoma" panose="020B0604030504040204" pitchFamily="34" charset="0"/>
                <a:ea typeface="Tahoma" panose="020B0604030504040204" pitchFamily="34" charset="0"/>
                <a:cs typeface="Tahoma" panose="020B0604030504040204" pitchFamily="34" charset="0"/>
              </a:defRPr>
            </a:lvl2pPr>
            <a:lvl3pPr>
              <a:defRPr sz="18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4040875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7" name="Content Placeholder 6"/>
          <p:cNvSpPr>
            <a:spLocks noGrp="1"/>
          </p:cNvSpPr>
          <p:nvPr>
            <p:ph sz="quarter" idx="11"/>
          </p:nvPr>
        </p:nvSpPr>
        <p:spPr>
          <a:xfrm>
            <a:off x="457200" y="1524000"/>
            <a:ext cx="8229600" cy="4800600"/>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2"/>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3514701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Content Placeholder 3"/>
          <p:cNvSpPr>
            <a:spLocks noGrp="1"/>
          </p:cNvSpPr>
          <p:nvPr>
            <p:ph sz="quarter" idx="11"/>
          </p:nvPr>
        </p:nvSpPr>
        <p:spPr>
          <a:xfrm>
            <a:off x="457200" y="1676400"/>
            <a:ext cx="8229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p:txBody>
          <a:bodyPr/>
          <a:lstStyle/>
          <a:p>
            <a:r>
              <a:rPr lang="en-US"/>
              <a:t>Click to edit Master title style</a:t>
            </a:r>
            <a:endParaRPr lang="en-US" dirty="0"/>
          </a:p>
        </p:txBody>
      </p:sp>
      <p:sp>
        <p:nvSpPr>
          <p:cNvPr id="5" name="Rectangle 5"/>
          <p:cNvSpPr>
            <a:spLocks noGrp="1" noChangeArrowheads="1"/>
          </p:cNvSpPr>
          <p:nvPr>
            <p:ph type="sldNum" sz="quarter" idx="12"/>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293277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b="1">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3515788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32610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Picture Only">
    <p:spTree>
      <p:nvGrpSpPr>
        <p:cNvPr id="1" name=""/>
        <p:cNvGrpSpPr/>
        <p:nvPr/>
      </p:nvGrpSpPr>
      <p:grpSpPr>
        <a:xfrm>
          <a:off x="0" y="0"/>
          <a:ext cx="0" cy="0"/>
          <a:chOff x="0" y="0"/>
          <a:chExt cx="0" cy="0"/>
        </a:xfrm>
      </p:grpSpPr>
      <p:sp>
        <p:nvSpPr>
          <p:cNvPr id="7" name="Rectangle 6"/>
          <p:cNvSpPr/>
          <p:nvPr userDrawn="1"/>
        </p:nvSpPr>
        <p:spPr>
          <a:xfrm>
            <a:off x="0" y="6019800"/>
            <a:ext cx="9144000"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a:lstStyle/>
          <a:p>
            <a:r>
              <a:rPr lang="en-US"/>
              <a:t>Click to edit Master title style</a:t>
            </a:r>
          </a:p>
        </p:txBody>
      </p:sp>
      <p:sp>
        <p:nvSpPr>
          <p:cNvPr id="9" name="Picture Placeholder 8"/>
          <p:cNvSpPr>
            <a:spLocks noGrp="1"/>
          </p:cNvSpPr>
          <p:nvPr>
            <p:ph type="pic" sz="quarter" idx="10"/>
          </p:nvPr>
        </p:nvSpPr>
        <p:spPr>
          <a:xfrm>
            <a:off x="457200" y="1447800"/>
            <a:ext cx="8229600" cy="4648200"/>
          </a:xfrm>
        </p:spPr>
        <p:txBody>
          <a:bodyPr/>
          <a:lstStyle>
            <a:lvl1pPr marL="0" indent="0">
              <a:spcBef>
                <a:spcPts val="0"/>
              </a:spcBef>
              <a:buFont typeface="Arial" pitchFamily="34" charset="0"/>
              <a:buNone/>
              <a:defRPr>
                <a:solidFill>
                  <a:schemeClr val="tx1"/>
                </a:solidFill>
              </a:defRPr>
            </a:lvl1pPr>
          </a:lstStyle>
          <a:p>
            <a:endParaRPr lang="en-US"/>
          </a:p>
        </p:txBody>
      </p:sp>
      <p:sp>
        <p:nvSpPr>
          <p:cNvPr id="10" name="Rectangle 5"/>
          <p:cNvSpPr txBox="1">
            <a:spLocks noChangeArrowheads="1"/>
          </p:cNvSpPr>
          <p:nvPr userDrawn="1"/>
        </p:nvSpPr>
        <p:spPr bwMode="auto">
          <a:xfrm>
            <a:off x="6858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3910455-901B-4E35-99ED-D53EEC340D9B}" type="slidenum">
              <a:rPr lang="en-US" smtClean="0"/>
              <a:pPr/>
              <a:t>‹#›</a:t>
            </a:fld>
            <a:endParaRPr lang="en-US"/>
          </a:p>
        </p:txBody>
      </p:sp>
    </p:spTree>
    <p:extLst>
      <p:ext uri="{BB962C8B-B14F-4D97-AF65-F5344CB8AC3E}">
        <p14:creationId xmlns:p14="http://schemas.microsoft.com/office/powerpoint/2010/main" val="3418465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Content - Sour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447802"/>
            <a:ext cx="8229600" cy="44196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0"/>
          </p:nvPr>
        </p:nvSpPr>
        <p:spPr>
          <a:xfrm>
            <a:off x="457200" y="6133011"/>
            <a:ext cx="7620000" cy="609600"/>
          </a:xfrm>
        </p:spPr>
        <p:txBody>
          <a:bodyPr anchor="ctr">
            <a:noAutofit/>
          </a:bodyPr>
          <a:lstStyle>
            <a:lvl1pPr marL="0" indent="0">
              <a:spcBef>
                <a:spcPts val="0"/>
              </a:spcBef>
              <a:buFont typeface="Arial" pitchFamily="34" charset="0"/>
              <a:buNone/>
              <a:defRPr sz="750">
                <a:solidFill>
                  <a:schemeClr val="bg1"/>
                </a:solidFill>
              </a:defRPr>
            </a:lvl1pPr>
            <a:lvl2pPr>
              <a:buFont typeface="Arial" pitchFamily="34" charset="0"/>
              <a:buNone/>
              <a:defRPr sz="1200">
                <a:solidFill>
                  <a:schemeClr val="bg1"/>
                </a:solidFill>
              </a:defRPr>
            </a:lvl2pPr>
            <a:lvl3pPr>
              <a:buFont typeface="Arial" pitchFamily="34" charset="0"/>
              <a:buNone/>
              <a:defRPr sz="1050">
                <a:solidFill>
                  <a:schemeClr val="bg1"/>
                </a:solidFill>
              </a:defRPr>
            </a:lvl3pPr>
            <a:lvl4pPr>
              <a:buFont typeface="Arial" pitchFamily="34" charset="0"/>
              <a:buNone/>
              <a:defRPr sz="900">
                <a:solidFill>
                  <a:schemeClr val="bg1"/>
                </a:solidFill>
              </a:defRPr>
            </a:lvl4pPr>
            <a:lvl5pPr>
              <a:buFont typeface="Arial" pitchFamily="34" charset="0"/>
              <a:buNone/>
              <a:defRPr sz="900">
                <a:solidFill>
                  <a:schemeClr val="bg1"/>
                </a:solidFill>
              </a:defRPr>
            </a:lvl5pPr>
          </a:lstStyle>
          <a:p>
            <a:pPr lvl="0"/>
            <a:r>
              <a:rPr lang="en-US" dirty="0"/>
              <a:t>Click to edit Master text styles</a:t>
            </a:r>
          </a:p>
        </p:txBody>
      </p:sp>
      <p:sp>
        <p:nvSpPr>
          <p:cNvPr id="7" name="Slide Number Placeholder 2"/>
          <p:cNvSpPr>
            <a:spLocks noGrp="1"/>
          </p:cNvSpPr>
          <p:nvPr>
            <p:ph type="sldNum" sz="quarter" idx="4"/>
          </p:nvPr>
        </p:nvSpPr>
        <p:spPr>
          <a:xfrm>
            <a:off x="8229600" y="320676"/>
            <a:ext cx="552450" cy="365125"/>
          </a:xfrm>
          <a:prstGeom prst="rect">
            <a:avLst/>
          </a:prstGeom>
        </p:spPr>
        <p:txBody>
          <a:bodyPr/>
          <a:lstStyle>
            <a:lvl1pPr algn="r">
              <a:defRPr sz="900" b="1">
                <a:solidFill>
                  <a:schemeClr val="accent5"/>
                </a:solidFill>
                <a:latin typeface="Arial" pitchFamily="34" charset="0"/>
                <a:cs typeface="Arial" pitchFamily="34" charset="0"/>
              </a:defRPr>
            </a:lvl1pPr>
          </a:lstStyle>
          <a:p>
            <a:fld id="{144970FF-6123-42CA-A003-B0DD987502E2}" type="slidenum">
              <a:rPr lang="en-US" smtClean="0">
                <a:solidFill>
                  <a:srgbClr val="8C9BA3"/>
                </a:solidFill>
              </a:rPr>
              <a:pPr/>
              <a:t>‹#›</a:t>
            </a:fld>
            <a:endParaRPr lang="en-US" dirty="0">
              <a:solidFill>
                <a:srgbClr val="8C9BA3"/>
              </a:solidFill>
            </a:endParaRPr>
          </a:p>
        </p:txBody>
      </p:sp>
    </p:spTree>
    <p:extLst>
      <p:ext uri="{BB962C8B-B14F-4D97-AF65-F5344CB8AC3E}">
        <p14:creationId xmlns:p14="http://schemas.microsoft.com/office/powerpoint/2010/main" val="932975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FMOH QI ">
    <p:spTree>
      <p:nvGrpSpPr>
        <p:cNvPr id="1" name=""/>
        <p:cNvGrpSpPr/>
        <p:nvPr/>
      </p:nvGrpSpPr>
      <p:grpSpPr>
        <a:xfrm>
          <a:off x="0" y="0"/>
          <a:ext cx="0" cy="0"/>
          <a:chOff x="0" y="0"/>
          <a:chExt cx="0" cy="0"/>
        </a:xfrm>
      </p:grpSpPr>
      <p:pic>
        <p:nvPicPr>
          <p:cNvPr id="4" name="Picture 2" descr="Jhpiego_External_Main2"/>
          <p:cNvPicPr>
            <a:picLocks noChangeAspect="1" noChangeArrowheads="1"/>
          </p:cNvPicPr>
          <p:nvPr/>
        </p:nvPicPr>
        <p:blipFill>
          <a:blip r:embed="rId2">
            <a:extLst>
              <a:ext uri="{28A0092B-C50C-407E-A947-70E740481C1C}">
                <a14:useLocalDpi xmlns:a14="http://schemas.microsoft.com/office/drawing/2010/main" val="0"/>
              </a:ext>
            </a:extLst>
          </a:blip>
          <a:srcRect r="38950" b="25259"/>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1" name="Rectangle 3"/>
          <p:cNvSpPr>
            <a:spLocks noGrp="1" noChangeArrowheads="1"/>
          </p:cNvSpPr>
          <p:nvPr>
            <p:ph type="ctrTitle"/>
          </p:nvPr>
        </p:nvSpPr>
        <p:spPr>
          <a:xfrm>
            <a:off x="609600" y="2590800"/>
            <a:ext cx="7924800" cy="1165225"/>
          </a:xfrm>
        </p:spPr>
        <p:txBody>
          <a:bodyPr/>
          <a:lstStyle>
            <a:lvl1pPr algn="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94212" name="Rectangle 4"/>
          <p:cNvSpPr>
            <a:spLocks noGrp="1" noChangeArrowheads="1"/>
          </p:cNvSpPr>
          <p:nvPr>
            <p:ph type="subTitle" idx="1"/>
          </p:nvPr>
        </p:nvSpPr>
        <p:spPr>
          <a:xfrm>
            <a:off x="3733800" y="4343400"/>
            <a:ext cx="4800600" cy="1752600"/>
          </a:xfrm>
        </p:spPr>
        <p:txBody>
          <a:bodyPr/>
          <a:lstStyle>
            <a:lvl1pPr marL="0" indent="0" algn="r">
              <a:buFont typeface="Wingdings" pitchFamily="2" charset="2"/>
              <a:buNone/>
              <a:defRPr sz="2000" b="1">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subtitle style</a:t>
            </a:r>
          </a:p>
        </p:txBody>
      </p:sp>
    </p:spTree>
    <p:extLst>
      <p:ext uri="{BB962C8B-B14F-4D97-AF65-F5344CB8AC3E}">
        <p14:creationId xmlns:p14="http://schemas.microsoft.com/office/powerpoint/2010/main" val="1446497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bg1"/>
                </a:solidFill>
                <a:latin typeface="Times New Roman" pitchFamily="18" charset="0"/>
                <a:ea typeface="Tahoma" panose="020B0604030504040204" pitchFamily="34" charset="0"/>
                <a:cs typeface="Times New Roman"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3397913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3648829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3" name="Content Placeholder 2"/>
          <p:cNvSpPr>
            <a:spLocks noGrp="1"/>
          </p:cNvSpPr>
          <p:nvPr>
            <p:ph sz="half" idx="1"/>
          </p:nvPr>
        </p:nvSpPr>
        <p:spPr>
          <a:xfrm>
            <a:off x="457200" y="1600200"/>
            <a:ext cx="4038600" cy="4114800"/>
          </a:xfrm>
        </p:spPr>
        <p:txBody>
          <a:bodyPr/>
          <a:lstStyle>
            <a:lvl1pPr>
              <a:defRPr sz="2800">
                <a:latin typeface="Tahoma" panose="020B0604030504040204" pitchFamily="34" charset="0"/>
                <a:ea typeface="Tahoma" panose="020B0604030504040204" pitchFamily="34" charset="0"/>
                <a:cs typeface="Tahoma" panose="020B0604030504040204" pitchFamily="34" charset="0"/>
              </a:defRPr>
            </a:lvl1pPr>
            <a:lvl2pPr>
              <a:defRPr sz="2400">
                <a:latin typeface="Tahoma" panose="020B0604030504040204" pitchFamily="34" charset="0"/>
                <a:ea typeface="Tahoma" panose="020B0604030504040204" pitchFamily="34" charset="0"/>
                <a:cs typeface="Tahoma" panose="020B0604030504040204" pitchFamily="34" charset="0"/>
              </a:defRPr>
            </a:lvl2pPr>
            <a:lvl3pPr>
              <a:defRPr sz="2000">
                <a:latin typeface="Tahoma" panose="020B0604030504040204" pitchFamily="34" charset="0"/>
                <a:ea typeface="Tahoma" panose="020B0604030504040204" pitchFamily="34" charset="0"/>
                <a:cs typeface="Tahoma" panose="020B0604030504040204" pitchFamily="34" charset="0"/>
              </a:defRPr>
            </a:lvl3pPr>
            <a:lvl4pPr>
              <a:defRPr sz="1800">
                <a:latin typeface="Tahoma" panose="020B0604030504040204" pitchFamily="34" charset="0"/>
                <a:ea typeface="Tahoma" panose="020B0604030504040204" pitchFamily="34" charset="0"/>
                <a:cs typeface="Tahoma" panose="020B0604030504040204" pitchFamily="34" charset="0"/>
              </a:defRPr>
            </a:lvl4pPr>
            <a:lvl5pPr>
              <a:defRPr sz="1800">
                <a:latin typeface="Tahoma" panose="020B0604030504040204" pitchFamily="34" charset="0"/>
                <a:ea typeface="Tahoma" panose="020B0604030504040204" pitchFamily="34" charset="0"/>
                <a:cs typeface="Tahoma" panose="020B060403050404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114800"/>
          </a:xfrm>
        </p:spPr>
        <p:txBody>
          <a:bodyPr/>
          <a:lstStyle>
            <a:lvl1pPr>
              <a:defRPr sz="2800">
                <a:latin typeface="Tahoma" panose="020B0604030504040204" pitchFamily="34" charset="0"/>
                <a:ea typeface="Tahoma" panose="020B0604030504040204" pitchFamily="34" charset="0"/>
                <a:cs typeface="Tahoma" panose="020B0604030504040204" pitchFamily="34" charset="0"/>
              </a:defRPr>
            </a:lvl1pPr>
            <a:lvl2pPr>
              <a:defRPr sz="2400">
                <a:latin typeface="Tahoma" panose="020B0604030504040204" pitchFamily="34" charset="0"/>
                <a:ea typeface="Tahoma" panose="020B0604030504040204" pitchFamily="34" charset="0"/>
                <a:cs typeface="Tahoma" panose="020B0604030504040204" pitchFamily="34" charset="0"/>
              </a:defRPr>
            </a:lvl2pPr>
            <a:lvl3pPr>
              <a:defRPr sz="2000">
                <a:latin typeface="Tahoma" panose="020B0604030504040204" pitchFamily="34" charset="0"/>
                <a:ea typeface="Tahoma" panose="020B0604030504040204" pitchFamily="34" charset="0"/>
                <a:cs typeface="Tahoma" panose="020B0604030504040204" pitchFamily="34" charset="0"/>
              </a:defRPr>
            </a:lvl3pPr>
            <a:lvl4pPr>
              <a:defRPr sz="1800">
                <a:latin typeface="Tahoma" panose="020B0604030504040204" pitchFamily="34" charset="0"/>
                <a:ea typeface="Tahoma" panose="020B0604030504040204" pitchFamily="34" charset="0"/>
                <a:cs typeface="Tahoma" panose="020B0604030504040204" pitchFamily="34" charset="0"/>
              </a:defRPr>
            </a:lvl4pPr>
            <a:lvl5pPr>
              <a:defRPr sz="1800">
                <a:latin typeface="Tahoma" panose="020B0604030504040204" pitchFamily="34" charset="0"/>
                <a:ea typeface="Tahoma" panose="020B0604030504040204" pitchFamily="34" charset="0"/>
                <a:cs typeface="Tahoma" panose="020B060403050404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4169322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Tahoma" panose="020B0604030504040204" pitchFamily="34" charset="0"/>
                <a:ea typeface="Tahoma" panose="020B0604030504040204" pitchFamily="34" charset="0"/>
                <a:cs typeface="Tahoma" panose="020B0604030504040204" pitchFamily="34" charset="0"/>
              </a:defRPr>
            </a:lvl1pPr>
            <a:lvl2pPr>
              <a:defRPr sz="2000">
                <a:latin typeface="Tahoma" panose="020B0604030504040204" pitchFamily="34" charset="0"/>
                <a:ea typeface="Tahoma" panose="020B0604030504040204" pitchFamily="34" charset="0"/>
                <a:cs typeface="Tahoma" panose="020B0604030504040204" pitchFamily="34" charset="0"/>
              </a:defRPr>
            </a:lvl2pPr>
            <a:lvl3pPr>
              <a:defRPr sz="18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Tahoma" panose="020B0604030504040204" pitchFamily="34" charset="0"/>
                <a:ea typeface="Tahoma" panose="020B0604030504040204" pitchFamily="34" charset="0"/>
                <a:cs typeface="Tahoma" panose="020B0604030504040204" pitchFamily="34" charset="0"/>
              </a:defRPr>
            </a:lvl1pPr>
            <a:lvl2pPr>
              <a:defRPr sz="2000">
                <a:latin typeface="Tahoma" panose="020B0604030504040204" pitchFamily="34" charset="0"/>
                <a:ea typeface="Tahoma" panose="020B0604030504040204" pitchFamily="34" charset="0"/>
                <a:cs typeface="Tahoma" panose="020B0604030504040204" pitchFamily="34" charset="0"/>
              </a:defRPr>
            </a:lvl2pPr>
            <a:lvl3pPr>
              <a:defRPr sz="18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3369981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7" name="Content Placeholder 6"/>
          <p:cNvSpPr>
            <a:spLocks noGrp="1"/>
          </p:cNvSpPr>
          <p:nvPr>
            <p:ph sz="quarter" idx="11"/>
          </p:nvPr>
        </p:nvSpPr>
        <p:spPr>
          <a:xfrm>
            <a:off x="457200" y="1524000"/>
            <a:ext cx="8229600" cy="4800600"/>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2"/>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423552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Content Placeholder 3"/>
          <p:cNvSpPr>
            <a:spLocks noGrp="1"/>
          </p:cNvSpPr>
          <p:nvPr>
            <p:ph sz="quarter" idx="11"/>
          </p:nvPr>
        </p:nvSpPr>
        <p:spPr>
          <a:xfrm>
            <a:off x="457200" y="1676400"/>
            <a:ext cx="8229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p:txBody>
          <a:bodyPr/>
          <a:lstStyle/>
          <a:p>
            <a:r>
              <a:rPr lang="en-US"/>
              <a:t>Click to edit Master title style</a:t>
            </a:r>
            <a:endParaRPr lang="en-US" dirty="0"/>
          </a:p>
        </p:txBody>
      </p:sp>
      <p:sp>
        <p:nvSpPr>
          <p:cNvPr id="5" name="Rectangle 5"/>
          <p:cNvSpPr>
            <a:spLocks noGrp="1" noChangeArrowheads="1"/>
          </p:cNvSpPr>
          <p:nvPr>
            <p:ph type="sldNum" sz="quarter" idx="12"/>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32231532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b="1">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1588161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880117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jpe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Jhpiego_External_slid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75" y="304800"/>
            <a:ext cx="9140825" cy="1036638"/>
          </a:xfrm>
          <a:prstGeom prst="rect">
            <a:avLst/>
          </a:prstGeom>
          <a:solidFill>
            <a:srgbClr val="68C1ED"/>
          </a:solidFill>
          <a:ln>
            <a:noFill/>
          </a:ln>
        </p:spPr>
      </p:pic>
      <p:sp>
        <p:nvSpPr>
          <p:cNvPr id="1027" name="Rectangle 3"/>
          <p:cNvSpPr>
            <a:spLocks noGrp="1" noChangeArrowheads="1"/>
          </p:cNvSpPr>
          <p:nvPr>
            <p:ph type="title"/>
          </p:nvPr>
        </p:nvSpPr>
        <p:spPr bwMode="auto">
          <a:xfrm>
            <a:off x="457200" y="3810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60020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93189" name="Rectangle 5"/>
          <p:cNvSpPr>
            <a:spLocks noGrp="1" noChangeArrowheads="1"/>
          </p:cNvSpPr>
          <p:nvPr>
            <p:ph type="sldNum" sz="quarter" idx="4"/>
          </p:nvPr>
        </p:nvSpPr>
        <p:spPr bwMode="auto">
          <a:xfrm>
            <a:off x="6858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latin typeface="+mn-lt"/>
              </a:defRPr>
            </a:lvl1pPr>
          </a:lstStyle>
          <a:p>
            <a:fld id="{C3910455-901B-4E35-99ED-D53EEC340D9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3" r:id="rId8"/>
    <p:sldLayoutId id="2147483684" r:id="rId9"/>
    <p:sldLayoutId id="2147483686" r:id="rId10"/>
    <p:sldLayoutId id="2147483688" r:id="rId11"/>
  </p:sldLayoutIdLst>
  <p:hf sldNum="0" hdr="0" ftr="0" dt="0"/>
  <p:txStyles>
    <p:titleStyle>
      <a:lvl1pPr algn="ctr" rtl="0" eaLnBrk="1" fontAlgn="base" hangingPunct="1">
        <a:spcBef>
          <a:spcPct val="0"/>
        </a:spcBef>
        <a:spcAft>
          <a:spcPct val="0"/>
        </a:spcAft>
        <a:defRPr sz="3200" b="1">
          <a:solidFill>
            <a:schemeClr val="bg1"/>
          </a:solidFill>
          <a:latin typeface="Tahoma" panose="020B0604030504040204" pitchFamily="34" charset="0"/>
          <a:ea typeface="Tahoma" panose="020B0604030504040204" pitchFamily="34" charset="0"/>
          <a:cs typeface="Tahoma" panose="020B0604030504040204" pitchFamily="34" charset="0"/>
        </a:defRPr>
      </a:lvl1pPr>
      <a:lvl2pPr algn="ctr" rtl="0" eaLnBrk="1" fontAlgn="base" hangingPunct="1">
        <a:spcBef>
          <a:spcPct val="0"/>
        </a:spcBef>
        <a:spcAft>
          <a:spcPct val="0"/>
        </a:spcAft>
        <a:defRPr sz="3200">
          <a:solidFill>
            <a:schemeClr val="tx1"/>
          </a:solidFill>
          <a:latin typeface="Helvetica" pitchFamily="34" charset="0"/>
        </a:defRPr>
      </a:lvl2pPr>
      <a:lvl3pPr algn="ctr" rtl="0" eaLnBrk="1" fontAlgn="base" hangingPunct="1">
        <a:spcBef>
          <a:spcPct val="0"/>
        </a:spcBef>
        <a:spcAft>
          <a:spcPct val="0"/>
        </a:spcAft>
        <a:defRPr sz="3200">
          <a:solidFill>
            <a:schemeClr val="tx1"/>
          </a:solidFill>
          <a:latin typeface="Helvetica" pitchFamily="34" charset="0"/>
        </a:defRPr>
      </a:lvl3pPr>
      <a:lvl4pPr algn="ctr" rtl="0" eaLnBrk="1" fontAlgn="base" hangingPunct="1">
        <a:spcBef>
          <a:spcPct val="0"/>
        </a:spcBef>
        <a:spcAft>
          <a:spcPct val="0"/>
        </a:spcAft>
        <a:defRPr sz="3200">
          <a:solidFill>
            <a:schemeClr val="tx1"/>
          </a:solidFill>
          <a:latin typeface="Helvetica" pitchFamily="34" charset="0"/>
        </a:defRPr>
      </a:lvl4pPr>
      <a:lvl5pPr algn="ctr" rtl="0" eaLnBrk="1" fontAlgn="base" hangingPunct="1">
        <a:spcBef>
          <a:spcPct val="0"/>
        </a:spcBef>
        <a:spcAft>
          <a:spcPct val="0"/>
        </a:spcAft>
        <a:defRPr sz="3200">
          <a:solidFill>
            <a:schemeClr val="tx1"/>
          </a:solidFill>
          <a:latin typeface="Helvetica" pitchFamily="34" charset="0"/>
        </a:defRPr>
      </a:lvl5pPr>
      <a:lvl6pPr marL="457200" algn="ctr" rtl="0" eaLnBrk="1" fontAlgn="base" hangingPunct="1">
        <a:spcBef>
          <a:spcPct val="0"/>
        </a:spcBef>
        <a:spcAft>
          <a:spcPct val="0"/>
        </a:spcAft>
        <a:defRPr sz="3200">
          <a:solidFill>
            <a:schemeClr val="tx1"/>
          </a:solidFill>
          <a:latin typeface="Helvetica" pitchFamily="34" charset="0"/>
        </a:defRPr>
      </a:lvl6pPr>
      <a:lvl7pPr marL="914400" algn="ctr" rtl="0" eaLnBrk="1" fontAlgn="base" hangingPunct="1">
        <a:spcBef>
          <a:spcPct val="0"/>
        </a:spcBef>
        <a:spcAft>
          <a:spcPct val="0"/>
        </a:spcAft>
        <a:defRPr sz="3200">
          <a:solidFill>
            <a:schemeClr val="tx1"/>
          </a:solidFill>
          <a:latin typeface="Helvetica" pitchFamily="34" charset="0"/>
        </a:defRPr>
      </a:lvl7pPr>
      <a:lvl8pPr marL="1371600" algn="ctr" rtl="0" eaLnBrk="1" fontAlgn="base" hangingPunct="1">
        <a:spcBef>
          <a:spcPct val="0"/>
        </a:spcBef>
        <a:spcAft>
          <a:spcPct val="0"/>
        </a:spcAft>
        <a:defRPr sz="3200">
          <a:solidFill>
            <a:schemeClr val="tx1"/>
          </a:solidFill>
          <a:latin typeface="Helvetica" pitchFamily="34" charset="0"/>
        </a:defRPr>
      </a:lvl8pPr>
      <a:lvl9pPr marL="1828800" algn="ctr" rtl="0" eaLnBrk="1" fontAlgn="base" hangingPunct="1">
        <a:spcBef>
          <a:spcPct val="0"/>
        </a:spcBef>
        <a:spcAft>
          <a:spcPct val="0"/>
        </a:spcAft>
        <a:defRPr sz="3200">
          <a:solidFill>
            <a:schemeClr val="tx1"/>
          </a:solidFill>
          <a:latin typeface="Helvetica" pitchFamily="34" charset="0"/>
        </a:defRPr>
      </a:lvl9pPr>
    </p:titleStyle>
    <p:bodyStyle>
      <a:lvl1pPr marL="342900" indent="-342900" algn="l" rtl="0" eaLnBrk="1" fontAlgn="base" hangingPunct="1">
        <a:spcBef>
          <a:spcPct val="20000"/>
        </a:spcBef>
        <a:spcAft>
          <a:spcPct val="0"/>
        </a:spcAft>
        <a:buClr>
          <a:srgbClr val="718C3F"/>
        </a:buClr>
        <a:buFont typeface="Wingdings" pitchFamily="2" charset="2"/>
        <a:buChar char="§"/>
        <a:defRPr sz="28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rtl="0" eaLnBrk="1" fontAlgn="base" hangingPunct="1">
        <a:spcBef>
          <a:spcPct val="20000"/>
        </a:spcBef>
        <a:spcAft>
          <a:spcPct val="0"/>
        </a:spcAft>
        <a:buClr>
          <a:srgbClr val="718C3F"/>
        </a:buClr>
        <a:buSzPct val="85000"/>
        <a:buFont typeface="Wingdings" pitchFamily="2" charset="2"/>
        <a:buChar char="§"/>
        <a:defRPr sz="24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rtl="0" eaLnBrk="1" fontAlgn="base" hangingPunct="1">
        <a:spcBef>
          <a:spcPct val="20000"/>
        </a:spcBef>
        <a:spcAft>
          <a:spcPct val="0"/>
        </a:spcAft>
        <a:buClr>
          <a:srgbClr val="718C3F"/>
        </a:buClr>
        <a:buFont typeface="Arial" pitchFamily="34" charset="0"/>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rtl="0" eaLnBrk="1" fontAlgn="base" hangingPunct="1">
        <a:spcBef>
          <a:spcPct val="20000"/>
        </a:spcBef>
        <a:spcAft>
          <a:spcPct val="0"/>
        </a:spcAft>
        <a:buClr>
          <a:srgbClr val="718C3F"/>
        </a:buClr>
        <a:buChar char="•"/>
        <a:defRPr>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rtl="0" eaLnBrk="1" fontAlgn="base" hangingPunct="1">
        <a:spcBef>
          <a:spcPct val="20000"/>
        </a:spcBef>
        <a:spcAft>
          <a:spcPct val="0"/>
        </a:spcAft>
        <a:buClr>
          <a:srgbClr val="718C3F"/>
        </a:buClr>
        <a:buSzPct val="90000"/>
        <a:buChar char="•"/>
        <a:defRPr>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rtl="0" eaLnBrk="1" fontAlgn="base" hangingPunct="1">
        <a:spcBef>
          <a:spcPct val="20000"/>
        </a:spcBef>
        <a:spcAft>
          <a:spcPct val="0"/>
        </a:spcAft>
        <a:buClr>
          <a:srgbClr val="718C3F"/>
        </a:buClr>
        <a:buSzPct val="90000"/>
        <a:buChar char="•"/>
        <a:defRPr>
          <a:solidFill>
            <a:schemeClr val="tx1"/>
          </a:solidFill>
          <a:latin typeface="+mn-lt"/>
        </a:defRPr>
      </a:lvl6pPr>
      <a:lvl7pPr marL="2971800" indent="-228600" algn="l" rtl="0" eaLnBrk="1" fontAlgn="base" hangingPunct="1">
        <a:spcBef>
          <a:spcPct val="20000"/>
        </a:spcBef>
        <a:spcAft>
          <a:spcPct val="0"/>
        </a:spcAft>
        <a:buClr>
          <a:srgbClr val="718C3F"/>
        </a:buClr>
        <a:buSzPct val="90000"/>
        <a:buChar char="•"/>
        <a:defRPr>
          <a:solidFill>
            <a:schemeClr val="tx1"/>
          </a:solidFill>
          <a:latin typeface="+mn-lt"/>
        </a:defRPr>
      </a:lvl7pPr>
      <a:lvl8pPr marL="3429000" indent="-228600" algn="l" rtl="0" eaLnBrk="1" fontAlgn="base" hangingPunct="1">
        <a:spcBef>
          <a:spcPct val="20000"/>
        </a:spcBef>
        <a:spcAft>
          <a:spcPct val="0"/>
        </a:spcAft>
        <a:buClr>
          <a:srgbClr val="718C3F"/>
        </a:buClr>
        <a:buSzPct val="90000"/>
        <a:buChar char="•"/>
        <a:defRPr>
          <a:solidFill>
            <a:schemeClr val="tx1"/>
          </a:solidFill>
          <a:latin typeface="+mn-lt"/>
        </a:defRPr>
      </a:lvl8pPr>
      <a:lvl9pPr marL="3886200" indent="-228600" algn="l" rtl="0" eaLnBrk="1" fontAlgn="base" hangingPunct="1">
        <a:spcBef>
          <a:spcPct val="20000"/>
        </a:spcBef>
        <a:spcAft>
          <a:spcPct val="0"/>
        </a:spcAft>
        <a:buClr>
          <a:srgbClr val="718C3F"/>
        </a:buClr>
        <a:buSzPct val="90000"/>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Jhpiego_External_slid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75" y="304800"/>
            <a:ext cx="9140825" cy="1036638"/>
          </a:xfrm>
          <a:prstGeom prst="rect">
            <a:avLst/>
          </a:prstGeom>
          <a:solidFill>
            <a:srgbClr val="68C1ED"/>
          </a:solidFill>
          <a:ln>
            <a:noFill/>
          </a:ln>
        </p:spPr>
      </p:pic>
      <p:sp>
        <p:nvSpPr>
          <p:cNvPr id="1027" name="Rectangle 3"/>
          <p:cNvSpPr>
            <a:spLocks noGrp="1" noChangeArrowheads="1"/>
          </p:cNvSpPr>
          <p:nvPr>
            <p:ph type="title"/>
          </p:nvPr>
        </p:nvSpPr>
        <p:spPr bwMode="auto">
          <a:xfrm>
            <a:off x="457200" y="3810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60020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93189" name="Rectangle 5"/>
          <p:cNvSpPr>
            <a:spLocks noGrp="1" noChangeArrowheads="1"/>
          </p:cNvSpPr>
          <p:nvPr>
            <p:ph type="sldNum" sz="quarter" idx="4"/>
          </p:nvPr>
        </p:nvSpPr>
        <p:spPr bwMode="auto">
          <a:xfrm>
            <a:off x="6858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latin typeface="+mn-lt"/>
              </a:defRPr>
            </a:lvl1pPr>
          </a:lstStyle>
          <a:p>
            <a:fld id="{C3910455-901B-4E35-99ED-D53EEC340D9B}" type="slidenum">
              <a:rPr lang="en-US" smtClean="0"/>
              <a:t>‹#›</a:t>
            </a:fld>
            <a:endParaRPr lang="en-US"/>
          </a:p>
        </p:txBody>
      </p:sp>
    </p:spTree>
    <p:extLst>
      <p:ext uri="{BB962C8B-B14F-4D97-AF65-F5344CB8AC3E}">
        <p14:creationId xmlns:p14="http://schemas.microsoft.com/office/powerpoint/2010/main" val="246095901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Lst>
  <p:hf sldNum="0" hdr="0" ftr="0" dt="0"/>
  <p:txStyles>
    <p:titleStyle>
      <a:lvl1pPr algn="ctr" rtl="0" eaLnBrk="1" fontAlgn="base" hangingPunct="1">
        <a:spcBef>
          <a:spcPct val="0"/>
        </a:spcBef>
        <a:spcAft>
          <a:spcPct val="0"/>
        </a:spcAft>
        <a:defRPr sz="3200" b="1">
          <a:solidFill>
            <a:schemeClr val="bg1"/>
          </a:solidFill>
          <a:latin typeface="Tahoma" panose="020B0604030504040204" pitchFamily="34" charset="0"/>
          <a:ea typeface="Tahoma" panose="020B0604030504040204" pitchFamily="34" charset="0"/>
          <a:cs typeface="Tahoma" panose="020B0604030504040204" pitchFamily="34" charset="0"/>
        </a:defRPr>
      </a:lvl1pPr>
      <a:lvl2pPr algn="ctr" rtl="0" eaLnBrk="1" fontAlgn="base" hangingPunct="1">
        <a:spcBef>
          <a:spcPct val="0"/>
        </a:spcBef>
        <a:spcAft>
          <a:spcPct val="0"/>
        </a:spcAft>
        <a:defRPr sz="3200">
          <a:solidFill>
            <a:schemeClr val="tx1"/>
          </a:solidFill>
          <a:latin typeface="Helvetica" pitchFamily="34" charset="0"/>
        </a:defRPr>
      </a:lvl2pPr>
      <a:lvl3pPr algn="ctr" rtl="0" eaLnBrk="1" fontAlgn="base" hangingPunct="1">
        <a:spcBef>
          <a:spcPct val="0"/>
        </a:spcBef>
        <a:spcAft>
          <a:spcPct val="0"/>
        </a:spcAft>
        <a:defRPr sz="3200">
          <a:solidFill>
            <a:schemeClr val="tx1"/>
          </a:solidFill>
          <a:latin typeface="Helvetica" pitchFamily="34" charset="0"/>
        </a:defRPr>
      </a:lvl3pPr>
      <a:lvl4pPr algn="ctr" rtl="0" eaLnBrk="1" fontAlgn="base" hangingPunct="1">
        <a:spcBef>
          <a:spcPct val="0"/>
        </a:spcBef>
        <a:spcAft>
          <a:spcPct val="0"/>
        </a:spcAft>
        <a:defRPr sz="3200">
          <a:solidFill>
            <a:schemeClr val="tx1"/>
          </a:solidFill>
          <a:latin typeface="Helvetica" pitchFamily="34" charset="0"/>
        </a:defRPr>
      </a:lvl4pPr>
      <a:lvl5pPr algn="ctr" rtl="0" eaLnBrk="1" fontAlgn="base" hangingPunct="1">
        <a:spcBef>
          <a:spcPct val="0"/>
        </a:spcBef>
        <a:spcAft>
          <a:spcPct val="0"/>
        </a:spcAft>
        <a:defRPr sz="3200">
          <a:solidFill>
            <a:schemeClr val="tx1"/>
          </a:solidFill>
          <a:latin typeface="Helvetica" pitchFamily="34" charset="0"/>
        </a:defRPr>
      </a:lvl5pPr>
      <a:lvl6pPr marL="457200" algn="ctr" rtl="0" eaLnBrk="1" fontAlgn="base" hangingPunct="1">
        <a:spcBef>
          <a:spcPct val="0"/>
        </a:spcBef>
        <a:spcAft>
          <a:spcPct val="0"/>
        </a:spcAft>
        <a:defRPr sz="3200">
          <a:solidFill>
            <a:schemeClr val="tx1"/>
          </a:solidFill>
          <a:latin typeface="Helvetica" pitchFamily="34" charset="0"/>
        </a:defRPr>
      </a:lvl6pPr>
      <a:lvl7pPr marL="914400" algn="ctr" rtl="0" eaLnBrk="1" fontAlgn="base" hangingPunct="1">
        <a:spcBef>
          <a:spcPct val="0"/>
        </a:spcBef>
        <a:spcAft>
          <a:spcPct val="0"/>
        </a:spcAft>
        <a:defRPr sz="3200">
          <a:solidFill>
            <a:schemeClr val="tx1"/>
          </a:solidFill>
          <a:latin typeface="Helvetica" pitchFamily="34" charset="0"/>
        </a:defRPr>
      </a:lvl7pPr>
      <a:lvl8pPr marL="1371600" algn="ctr" rtl="0" eaLnBrk="1" fontAlgn="base" hangingPunct="1">
        <a:spcBef>
          <a:spcPct val="0"/>
        </a:spcBef>
        <a:spcAft>
          <a:spcPct val="0"/>
        </a:spcAft>
        <a:defRPr sz="3200">
          <a:solidFill>
            <a:schemeClr val="tx1"/>
          </a:solidFill>
          <a:latin typeface="Helvetica" pitchFamily="34" charset="0"/>
        </a:defRPr>
      </a:lvl8pPr>
      <a:lvl9pPr marL="1828800" algn="ctr" rtl="0" eaLnBrk="1" fontAlgn="base" hangingPunct="1">
        <a:spcBef>
          <a:spcPct val="0"/>
        </a:spcBef>
        <a:spcAft>
          <a:spcPct val="0"/>
        </a:spcAft>
        <a:defRPr sz="3200">
          <a:solidFill>
            <a:schemeClr val="tx1"/>
          </a:solidFill>
          <a:latin typeface="Helvetica" pitchFamily="34" charset="0"/>
        </a:defRPr>
      </a:lvl9pPr>
    </p:titleStyle>
    <p:bodyStyle>
      <a:lvl1pPr marL="342900" indent="-342900" algn="l" rtl="0" eaLnBrk="1" fontAlgn="base" hangingPunct="1">
        <a:spcBef>
          <a:spcPct val="20000"/>
        </a:spcBef>
        <a:spcAft>
          <a:spcPct val="0"/>
        </a:spcAft>
        <a:buClr>
          <a:srgbClr val="718C3F"/>
        </a:buClr>
        <a:buFont typeface="Wingdings" pitchFamily="2" charset="2"/>
        <a:buChar char="§"/>
        <a:defRPr sz="28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rtl="0" eaLnBrk="1" fontAlgn="base" hangingPunct="1">
        <a:spcBef>
          <a:spcPct val="20000"/>
        </a:spcBef>
        <a:spcAft>
          <a:spcPct val="0"/>
        </a:spcAft>
        <a:buClr>
          <a:srgbClr val="718C3F"/>
        </a:buClr>
        <a:buSzPct val="85000"/>
        <a:buFont typeface="Wingdings" pitchFamily="2" charset="2"/>
        <a:buChar char="§"/>
        <a:defRPr sz="24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rtl="0" eaLnBrk="1" fontAlgn="base" hangingPunct="1">
        <a:spcBef>
          <a:spcPct val="20000"/>
        </a:spcBef>
        <a:spcAft>
          <a:spcPct val="0"/>
        </a:spcAft>
        <a:buClr>
          <a:srgbClr val="718C3F"/>
        </a:buClr>
        <a:buFont typeface="Arial" pitchFamily="34" charset="0"/>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rtl="0" eaLnBrk="1" fontAlgn="base" hangingPunct="1">
        <a:spcBef>
          <a:spcPct val="20000"/>
        </a:spcBef>
        <a:spcAft>
          <a:spcPct val="0"/>
        </a:spcAft>
        <a:buClr>
          <a:srgbClr val="718C3F"/>
        </a:buClr>
        <a:buChar char="•"/>
        <a:defRPr>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rtl="0" eaLnBrk="1" fontAlgn="base" hangingPunct="1">
        <a:spcBef>
          <a:spcPct val="20000"/>
        </a:spcBef>
        <a:spcAft>
          <a:spcPct val="0"/>
        </a:spcAft>
        <a:buClr>
          <a:srgbClr val="718C3F"/>
        </a:buClr>
        <a:buSzPct val="90000"/>
        <a:buChar char="•"/>
        <a:defRPr>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rtl="0" eaLnBrk="1" fontAlgn="base" hangingPunct="1">
        <a:spcBef>
          <a:spcPct val="20000"/>
        </a:spcBef>
        <a:spcAft>
          <a:spcPct val="0"/>
        </a:spcAft>
        <a:buClr>
          <a:srgbClr val="718C3F"/>
        </a:buClr>
        <a:buSzPct val="90000"/>
        <a:buChar char="•"/>
        <a:defRPr>
          <a:solidFill>
            <a:schemeClr val="tx1"/>
          </a:solidFill>
          <a:latin typeface="+mn-lt"/>
        </a:defRPr>
      </a:lvl6pPr>
      <a:lvl7pPr marL="2971800" indent="-228600" algn="l" rtl="0" eaLnBrk="1" fontAlgn="base" hangingPunct="1">
        <a:spcBef>
          <a:spcPct val="20000"/>
        </a:spcBef>
        <a:spcAft>
          <a:spcPct val="0"/>
        </a:spcAft>
        <a:buClr>
          <a:srgbClr val="718C3F"/>
        </a:buClr>
        <a:buSzPct val="90000"/>
        <a:buChar char="•"/>
        <a:defRPr>
          <a:solidFill>
            <a:schemeClr val="tx1"/>
          </a:solidFill>
          <a:latin typeface="+mn-lt"/>
        </a:defRPr>
      </a:lvl7pPr>
      <a:lvl8pPr marL="3429000" indent="-228600" algn="l" rtl="0" eaLnBrk="1" fontAlgn="base" hangingPunct="1">
        <a:spcBef>
          <a:spcPct val="20000"/>
        </a:spcBef>
        <a:spcAft>
          <a:spcPct val="0"/>
        </a:spcAft>
        <a:buClr>
          <a:srgbClr val="718C3F"/>
        </a:buClr>
        <a:buSzPct val="90000"/>
        <a:buChar char="•"/>
        <a:defRPr>
          <a:solidFill>
            <a:schemeClr val="tx1"/>
          </a:solidFill>
          <a:latin typeface="+mn-lt"/>
        </a:defRPr>
      </a:lvl8pPr>
      <a:lvl9pPr marL="3886200" indent="-228600" algn="l" rtl="0" eaLnBrk="1" fontAlgn="base" hangingPunct="1">
        <a:spcBef>
          <a:spcPct val="20000"/>
        </a:spcBef>
        <a:spcAft>
          <a:spcPct val="0"/>
        </a:spcAft>
        <a:buClr>
          <a:srgbClr val="718C3F"/>
        </a:buClr>
        <a:buSzPct val="90000"/>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59057-365A-428F-B926-9D2DEEA3DD02}"/>
              </a:ext>
            </a:extLst>
          </p:cNvPr>
          <p:cNvSpPr>
            <a:spLocks noGrp="1"/>
          </p:cNvSpPr>
          <p:nvPr>
            <p:ph type="ctrTitle"/>
          </p:nvPr>
        </p:nvSpPr>
        <p:spPr/>
        <p:txBody>
          <a:bodyPr/>
          <a:lstStyle/>
          <a:p>
            <a:r>
              <a:rPr lang="en-US" dirty="0">
                <a:solidFill>
                  <a:srgbClr val="002060"/>
                </a:solidFill>
              </a:rPr>
              <a:t>Public Health Significance of Adolescents and Youth Health </a:t>
            </a:r>
            <a:br>
              <a:rPr lang="en-US" dirty="0"/>
            </a:br>
            <a:endParaRPr lang="en-US" dirty="0"/>
          </a:p>
        </p:txBody>
      </p:sp>
      <p:sp>
        <p:nvSpPr>
          <p:cNvPr id="3" name="Subtitle 2">
            <a:extLst>
              <a:ext uri="{FF2B5EF4-FFF2-40B4-BE49-F238E27FC236}">
                <a16:creationId xmlns:a16="http://schemas.microsoft.com/office/drawing/2014/main" id="{ED3B947D-0C74-4027-A30A-CAE1C10F08C7}"/>
              </a:ext>
            </a:extLst>
          </p:cNvPr>
          <p:cNvSpPr>
            <a:spLocks noGrp="1"/>
          </p:cNvSpPr>
          <p:nvPr>
            <p:ph type="subTitle" idx="1"/>
          </p:nvPr>
        </p:nvSpPr>
        <p:spPr/>
        <p:txBody>
          <a:bodyPr/>
          <a:lstStyle/>
          <a:p>
            <a:r>
              <a:rPr lang="en-US"/>
              <a:t>Chapter 1</a:t>
            </a:r>
            <a:endParaRPr lang="en-US" dirty="0"/>
          </a:p>
        </p:txBody>
      </p:sp>
      <p:pic>
        <p:nvPicPr>
          <p:cNvPr id="4" name="Picture 3">
            <a:extLst>
              <a:ext uri="{FF2B5EF4-FFF2-40B4-BE49-F238E27FC236}">
                <a16:creationId xmlns:a16="http://schemas.microsoft.com/office/drawing/2014/main" id="{B355EF6D-CC0A-44F4-A399-2B98A714AA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57600" y="381000"/>
            <a:ext cx="1752599" cy="1524000"/>
          </a:xfrm>
          <a:prstGeom prst="rect">
            <a:avLst/>
          </a:prstGeom>
        </p:spPr>
      </p:pic>
    </p:spTree>
    <p:extLst>
      <p:ext uri="{BB962C8B-B14F-4D97-AF65-F5344CB8AC3E}">
        <p14:creationId xmlns:p14="http://schemas.microsoft.com/office/powerpoint/2010/main" val="1328460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676400"/>
            <a:ext cx="8382000" cy="4419600"/>
          </a:xfrm>
        </p:spPr>
        <p:txBody>
          <a:bodyPr/>
          <a:lstStyle/>
          <a:p>
            <a:pPr marL="0" lvl="0" indent="0">
              <a:buNone/>
            </a:pPr>
            <a:r>
              <a:rPr lang="en-US" dirty="0">
                <a:solidFill>
                  <a:schemeClr val="accent6">
                    <a:lumMod val="50000"/>
                  </a:schemeClr>
                </a:solidFill>
                <a:latin typeface="Gill Sans MT" panose="020B0502020104020203" pitchFamily="34" charset="0"/>
              </a:rPr>
              <a:t>By the end of this session, you will be able to:</a:t>
            </a:r>
          </a:p>
          <a:p>
            <a:pPr lvl="0"/>
            <a:r>
              <a:rPr lang="en-US" dirty="0">
                <a:solidFill>
                  <a:schemeClr val="accent6">
                    <a:lumMod val="50000"/>
                  </a:schemeClr>
                </a:solidFill>
                <a:latin typeface="Gill Sans MT" panose="020B0502020104020203" pitchFamily="34" charset="0"/>
              </a:rPr>
              <a:t>Describe the status of Adolescent and Youth health Globally and in Ethiopia</a:t>
            </a:r>
          </a:p>
          <a:p>
            <a:pPr lvl="0"/>
            <a:r>
              <a:rPr lang="en-US" dirty="0">
                <a:solidFill>
                  <a:schemeClr val="accent6">
                    <a:lumMod val="50000"/>
                  </a:schemeClr>
                </a:solidFill>
                <a:latin typeface="Gill Sans MT" panose="020B0502020104020203" pitchFamily="34" charset="0"/>
              </a:rPr>
              <a:t>Describe the common health problems of Adolescents and Youth in Ethiopia</a:t>
            </a:r>
          </a:p>
          <a:p>
            <a:pPr lvl="0"/>
            <a:r>
              <a:rPr lang="en-US" dirty="0">
                <a:solidFill>
                  <a:schemeClr val="accent6">
                    <a:lumMod val="50000"/>
                  </a:schemeClr>
                </a:solidFill>
                <a:latin typeface="Gill Sans MT" panose="020B0502020104020203" pitchFamily="34" charset="0"/>
              </a:rPr>
              <a:t>Understand the rationales for investing  on adolescent and youth health</a:t>
            </a:r>
          </a:p>
          <a:p>
            <a:pPr marL="0" indent="0">
              <a:buNone/>
            </a:pPr>
            <a:endParaRPr lang="en-US" dirty="0">
              <a:latin typeface="Gill Sans MT" panose="020B0502020104020203" pitchFamily="34" charset="0"/>
            </a:endParaRPr>
          </a:p>
        </p:txBody>
      </p:sp>
      <p:sp>
        <p:nvSpPr>
          <p:cNvPr id="4" name="Rectangle 3"/>
          <p:cNvSpPr/>
          <p:nvPr/>
        </p:nvSpPr>
        <p:spPr>
          <a:xfrm>
            <a:off x="2171700" y="457200"/>
            <a:ext cx="3972742" cy="584775"/>
          </a:xfrm>
          <a:prstGeom prst="rect">
            <a:avLst/>
          </a:prstGeom>
        </p:spPr>
        <p:txBody>
          <a:bodyPr wrap="square">
            <a:spAutoFit/>
          </a:bodyPr>
          <a:lstStyle/>
          <a:p>
            <a:r>
              <a:rPr lang="en-US" sz="3200" b="1" dirty="0">
                <a:solidFill>
                  <a:srgbClr val="002060"/>
                </a:solidFill>
                <a:latin typeface="Gill Sans MT" panose="020B0502020104020203" pitchFamily="34" charset="0"/>
                <a:ea typeface="Tahoma" panose="020B0604030504040204" pitchFamily="34" charset="0"/>
                <a:cs typeface="Tahoma" panose="020B0604030504040204" pitchFamily="34" charset="0"/>
              </a:rPr>
              <a:t>Learning Objectives</a:t>
            </a:r>
            <a:endParaRPr lang="en-US" sz="3200" dirty="0">
              <a:solidFill>
                <a:srgbClr val="002060"/>
              </a:solidFill>
              <a:latin typeface="Gill Sans MT" panose="020B0502020104020203"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B355EF6D-CC0A-44F4-A399-2B98A714AA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4015143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Individual reflections (5’) </a:t>
            </a:r>
          </a:p>
        </p:txBody>
      </p:sp>
      <p:sp>
        <p:nvSpPr>
          <p:cNvPr id="3" name="Content Placeholder 2"/>
          <p:cNvSpPr>
            <a:spLocks noGrp="1"/>
          </p:cNvSpPr>
          <p:nvPr>
            <p:ph idx="1"/>
          </p:nvPr>
        </p:nvSpPr>
        <p:spPr/>
        <p:txBody>
          <a:bodyPr/>
          <a:lstStyle/>
          <a:p>
            <a:r>
              <a:rPr lang="en-US" dirty="0"/>
              <a:t>Who are Adolescents, youth and young people ? </a:t>
            </a:r>
          </a:p>
          <a:p>
            <a:endParaRPr lang="en-US" dirty="0"/>
          </a:p>
        </p:txBody>
      </p:sp>
    </p:spTree>
    <p:extLst>
      <p:ext uri="{BB962C8B-B14F-4D97-AF65-F5344CB8AC3E}">
        <p14:creationId xmlns:p14="http://schemas.microsoft.com/office/powerpoint/2010/main" val="4289452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eaLnBrk="1" hangingPunct="1">
              <a:lnSpc>
                <a:spcPct val="90000"/>
              </a:lnSpc>
            </a:pPr>
            <a:r>
              <a:rPr lang="en-US" altLang="en-US" sz="3200" b="1" dirty="0">
                <a:solidFill>
                  <a:srgbClr val="002060"/>
                </a:solidFill>
                <a:latin typeface="Times New Roman" pitchFamily="18" charset="0"/>
                <a:cs typeface="Times New Roman" pitchFamily="18" charset="0"/>
              </a:rPr>
              <a:t>Adolescent and Youth Current Status</a:t>
            </a:r>
          </a:p>
        </p:txBody>
      </p:sp>
      <p:sp>
        <p:nvSpPr>
          <p:cNvPr id="3" name="Content Placeholder 2"/>
          <p:cNvSpPr>
            <a:spLocks noGrp="1"/>
          </p:cNvSpPr>
          <p:nvPr>
            <p:ph idx="1"/>
          </p:nvPr>
        </p:nvSpPr>
        <p:spPr>
          <a:xfrm>
            <a:off x="609600" y="1295399"/>
            <a:ext cx="8077200" cy="5099891"/>
          </a:xfrm>
        </p:spPr>
        <p:txBody>
          <a:bodyPr/>
          <a:lstStyle/>
          <a:p>
            <a:pPr marL="0" indent="0">
              <a:lnSpc>
                <a:spcPct val="150000"/>
              </a:lnSpc>
              <a:buNone/>
            </a:pPr>
            <a:r>
              <a:rPr lang="en-US" sz="2400" dirty="0">
                <a:latin typeface="Gill Sans MT" panose="020B0502020104020203" pitchFamily="34" charset="0"/>
              </a:rPr>
              <a:t>Definition </a:t>
            </a:r>
          </a:p>
          <a:p>
            <a:pPr>
              <a:lnSpc>
                <a:spcPct val="150000"/>
              </a:lnSpc>
            </a:pPr>
            <a:r>
              <a:rPr lang="en-US" sz="2400" dirty="0">
                <a:latin typeface="Gill Sans MT" panose="020B0502020104020203" pitchFamily="34" charset="0"/>
              </a:rPr>
              <a:t>Adolescence: From Latin “adolescere”  “to grow  up” </a:t>
            </a:r>
            <a:r>
              <a:rPr lang="en-US" sz="2000" dirty="0">
                <a:latin typeface="Gill Sans MT" panose="020B0502020104020203" pitchFamily="34" charset="0"/>
              </a:rPr>
              <a:t>(Macmillan Dictionary for Students Macmillan, Pan Ltd. 1981) </a:t>
            </a:r>
            <a:endParaRPr lang="en-US" sz="2400" dirty="0">
              <a:latin typeface="Gill Sans MT" panose="020B0502020104020203" pitchFamily="34" charset="0"/>
            </a:endParaRPr>
          </a:p>
          <a:p>
            <a:pPr>
              <a:lnSpc>
                <a:spcPct val="150000"/>
              </a:lnSpc>
            </a:pPr>
            <a:r>
              <a:rPr lang="en-US" sz="2400" dirty="0">
                <a:latin typeface="Gill Sans MT" panose="020B0502020104020203" pitchFamily="34" charset="0"/>
              </a:rPr>
              <a:t>Adolescence is a transitional stage of physical, cognitive, and psychological development that generally occurs during the period from puberty to legal adulthood </a:t>
            </a:r>
          </a:p>
          <a:p>
            <a:pPr>
              <a:lnSpc>
                <a:spcPct val="150000"/>
              </a:lnSpc>
            </a:pPr>
            <a:r>
              <a:rPr lang="en-US" sz="2400" dirty="0">
                <a:latin typeface="Gill Sans MT" panose="020B0502020104020203" pitchFamily="34" charset="0"/>
              </a:rPr>
              <a:t>WHO definitions: Adolescence: 10-19 yrs.,  Young people: 10-24 yrs. and Youth: 15-24 yrs.</a:t>
            </a:r>
          </a:p>
          <a:p>
            <a:pPr marL="0" indent="0">
              <a:lnSpc>
                <a:spcPct val="150000"/>
              </a:lnSpc>
              <a:buNone/>
            </a:pPr>
            <a:r>
              <a:rPr lang="en-US" sz="2400" dirty="0">
                <a:latin typeface="Gill Sans MT" panose="020B0502020104020203" pitchFamily="34" charset="0"/>
              </a:rPr>
              <a:t>     </a:t>
            </a:r>
            <a:r>
              <a:rPr lang="en-US" sz="2400" dirty="0">
                <a:solidFill>
                  <a:srgbClr val="FF0000"/>
                </a:solidFill>
                <a:latin typeface="Gill Sans MT" panose="020B0502020104020203" pitchFamily="34" charset="0"/>
              </a:rPr>
              <a:t>National AYHS definitions :  Adolescent &amp; Youth: 10-24 yrs.</a:t>
            </a:r>
          </a:p>
          <a:p>
            <a:pPr>
              <a:lnSpc>
                <a:spcPct val="150000"/>
              </a:lnSpc>
            </a:pPr>
            <a:endParaRPr lang="en-US" sz="2400" dirty="0">
              <a:latin typeface="Gill Sans MT" panose="020B0502020104020203" pitchFamily="34" charset="0"/>
            </a:endParaRPr>
          </a:p>
          <a:p>
            <a:pPr>
              <a:lnSpc>
                <a:spcPct val="150000"/>
              </a:lnSpc>
            </a:pPr>
            <a:endParaRPr lang="en-US" sz="2400" dirty="0">
              <a:latin typeface="Gill Sans MT" panose="020B0502020104020203" pitchFamily="34" charset="0"/>
            </a:endParaRPr>
          </a:p>
        </p:txBody>
      </p:sp>
      <p:pic>
        <p:nvPicPr>
          <p:cNvPr id="4" name="Picture 3">
            <a:extLst>
              <a:ext uri="{FF2B5EF4-FFF2-40B4-BE49-F238E27FC236}">
                <a16:creationId xmlns:a16="http://schemas.microsoft.com/office/drawing/2014/main" id="{B355EF6D-CC0A-44F4-A399-2B98A714AA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538652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latin typeface="Gill Sans MT" panose="020B0502020104020203" pitchFamily="34" charset="0"/>
              </a:rPr>
              <a:t>Adolescent and Youth Current Status</a:t>
            </a:r>
          </a:p>
        </p:txBody>
      </p:sp>
      <p:sp>
        <p:nvSpPr>
          <p:cNvPr id="3" name="Content Placeholder 2"/>
          <p:cNvSpPr>
            <a:spLocks noGrp="1"/>
          </p:cNvSpPr>
          <p:nvPr>
            <p:ph idx="1"/>
          </p:nvPr>
        </p:nvSpPr>
        <p:spPr>
          <a:xfrm>
            <a:off x="228600" y="1600199"/>
            <a:ext cx="3962400" cy="4332383"/>
          </a:xfrm>
        </p:spPr>
        <p:txBody>
          <a:bodyPr/>
          <a:lstStyle/>
          <a:p>
            <a:pPr marL="0" indent="0">
              <a:buNone/>
              <a:defRPr/>
            </a:pPr>
            <a:r>
              <a:rPr lang="en-US" sz="3200" b="0" dirty="0">
                <a:latin typeface="Gill Sans MT" panose="020B0502020104020203" pitchFamily="34" charset="0"/>
                <a:cs typeface="Times New Roman" pitchFamily="18" charset="0"/>
              </a:rPr>
              <a:t>The numbers …..</a:t>
            </a:r>
          </a:p>
          <a:p>
            <a:pPr marL="347663" lvl="1" indent="-173038">
              <a:lnSpc>
                <a:spcPct val="150000"/>
              </a:lnSpc>
              <a:defRPr/>
            </a:pPr>
            <a:r>
              <a:rPr lang="en-US" b="0" dirty="0">
                <a:latin typeface="Gill Sans MT" panose="020B0502020104020203" pitchFamily="34" charset="0"/>
                <a:cs typeface="Times New Roman" pitchFamily="18" charset="0"/>
              </a:rPr>
              <a:t>In 2021, globally AY Constitute</a:t>
            </a:r>
          </a:p>
          <a:p>
            <a:pPr marL="347663" lvl="2" indent="-173038">
              <a:lnSpc>
                <a:spcPct val="150000"/>
              </a:lnSpc>
              <a:buFont typeface="Wingdings" panose="05000000000000000000" pitchFamily="2" charset="2"/>
              <a:buChar char="§"/>
              <a:defRPr/>
            </a:pPr>
            <a:r>
              <a:rPr lang="en-US" sz="2400" dirty="0">
                <a:latin typeface="Gill Sans MT" panose="020B0502020104020203" pitchFamily="34" charset="0"/>
                <a:cs typeface="Times New Roman" pitchFamily="18" charset="0"/>
              </a:rPr>
              <a:t>1.8 billion (24.3%) of the world’s population and 1/3</a:t>
            </a:r>
            <a:r>
              <a:rPr lang="en-US" sz="2400" baseline="30000" dirty="0">
                <a:latin typeface="Gill Sans MT" panose="020B0502020104020203" pitchFamily="34" charset="0"/>
                <a:cs typeface="Times New Roman" pitchFamily="18" charset="0"/>
              </a:rPr>
              <a:t>rd</a:t>
            </a:r>
            <a:r>
              <a:rPr lang="en-US" sz="2400" dirty="0">
                <a:latin typeface="Gill Sans MT" panose="020B0502020104020203" pitchFamily="34" charset="0"/>
                <a:cs typeface="Times New Roman" pitchFamily="18" charset="0"/>
              </a:rPr>
              <a:t> (33%) of the Ethiopian population </a:t>
            </a:r>
          </a:p>
          <a:p>
            <a:pPr marL="0" indent="0">
              <a:buNone/>
            </a:pPr>
            <a:endParaRPr lang="en-US" dirty="0">
              <a:latin typeface="Gill Sans MT" panose="020B0502020104020203" pitchFamily="34" charset="0"/>
            </a:endParaRPr>
          </a:p>
        </p:txBody>
      </p:sp>
      <p:pic>
        <p:nvPicPr>
          <p:cNvPr id="4" name="Picture 3">
            <a:extLst>
              <a:ext uri="{FF2B5EF4-FFF2-40B4-BE49-F238E27FC236}">
                <a16:creationId xmlns:a16="http://schemas.microsoft.com/office/drawing/2014/main" id="{B355EF6D-CC0A-44F4-A399-2B98A714AA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pic>
        <p:nvPicPr>
          <p:cNvPr id="5" name="Picture 4">
            <a:extLst>
              <a:ext uri="{FF2B5EF4-FFF2-40B4-BE49-F238E27FC236}">
                <a16:creationId xmlns:a16="http://schemas.microsoft.com/office/drawing/2014/main" id="{09DD4518-991B-7FFD-538D-66B21AA542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1600199"/>
            <a:ext cx="4850296" cy="464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7643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Mortality trends in adolescent and youths </a:t>
            </a:r>
          </a:p>
        </p:txBody>
      </p:sp>
      <p:sp>
        <p:nvSpPr>
          <p:cNvPr id="3" name="Content Placeholder 2"/>
          <p:cNvSpPr>
            <a:spLocks noGrp="1"/>
          </p:cNvSpPr>
          <p:nvPr>
            <p:ph idx="1"/>
          </p:nvPr>
        </p:nvSpPr>
        <p:spPr>
          <a:xfrm>
            <a:off x="145576" y="1295400"/>
            <a:ext cx="8610600" cy="4572000"/>
          </a:xfrm>
        </p:spPr>
        <p:txBody>
          <a:bodyPr/>
          <a:lstStyle/>
          <a:p>
            <a:pPr>
              <a:lnSpc>
                <a:spcPct val="150000"/>
              </a:lnSpc>
            </a:pPr>
            <a:r>
              <a:rPr lang="en-US" sz="2400" b="0" dirty="0">
                <a:solidFill>
                  <a:schemeClr val="tx1"/>
                </a:solidFill>
                <a:latin typeface="Times New Roman" pitchFamily="18" charset="0"/>
                <a:cs typeface="Times New Roman" pitchFamily="18" charset="0"/>
              </a:rPr>
              <a:t>A decline in the overall mortality rate of </a:t>
            </a:r>
            <a:r>
              <a:rPr lang="en-US" sz="2400" dirty="0">
                <a:latin typeface="Times New Roman" pitchFamily="18" charset="0"/>
                <a:cs typeface="Times New Roman" pitchFamily="18" charset="0"/>
              </a:rPr>
              <a:t>AY</a:t>
            </a:r>
            <a:r>
              <a:rPr lang="en-US" sz="2400" b="0" dirty="0">
                <a:solidFill>
                  <a:schemeClr val="tx1"/>
                </a:solidFill>
                <a:latin typeface="Times New Roman" pitchFamily="18" charset="0"/>
                <a:cs typeface="Times New Roman" pitchFamily="18" charset="0"/>
              </a:rPr>
              <a:t> 10-24 years</a:t>
            </a:r>
          </a:p>
          <a:p>
            <a:pPr>
              <a:lnSpc>
                <a:spcPct val="150000"/>
              </a:lnSpc>
            </a:pPr>
            <a:r>
              <a:rPr lang="en-US" sz="2400" dirty="0">
                <a:latin typeface="Times New Roman" pitchFamily="18" charset="0"/>
                <a:cs typeface="Times New Roman" pitchFamily="18" charset="0"/>
              </a:rPr>
              <a:t>A decline in adolescent mortality of  </a:t>
            </a:r>
            <a:r>
              <a:rPr lang="en-US" sz="2400" b="0" dirty="0">
                <a:solidFill>
                  <a:schemeClr val="tx1"/>
                </a:solidFill>
                <a:latin typeface="Times New Roman" pitchFamily="18" charset="0"/>
                <a:cs typeface="Times New Roman" pitchFamily="18" charset="0"/>
              </a:rPr>
              <a:t>all-cause</a:t>
            </a:r>
          </a:p>
          <a:p>
            <a:pPr>
              <a:lnSpc>
                <a:spcPct val="150000"/>
              </a:lnSpc>
            </a:pPr>
            <a:r>
              <a:rPr lang="en-US" sz="2400" dirty="0">
                <a:latin typeface="Times New Roman" pitchFamily="18" charset="0"/>
                <a:cs typeface="Times New Roman" pitchFamily="18" charset="0"/>
              </a:rPr>
              <a:t>R</a:t>
            </a:r>
            <a:r>
              <a:rPr lang="en-US" sz="2400" b="0" dirty="0">
                <a:latin typeface="Times New Roman" pitchFamily="18" charset="0"/>
                <a:cs typeface="Times New Roman" pitchFamily="18" charset="0"/>
              </a:rPr>
              <a:t>elative increase in all-cause mortality for males against female counterparts</a:t>
            </a:r>
          </a:p>
          <a:p>
            <a:pPr>
              <a:lnSpc>
                <a:spcPct val="150000"/>
              </a:lnSpc>
            </a:pPr>
            <a:r>
              <a:rPr lang="en-US" sz="2400" b="0" dirty="0">
                <a:latin typeface="Times New Roman" pitchFamily="18" charset="0"/>
                <a:cs typeface="Times New Roman" pitchFamily="18" charset="0"/>
              </a:rPr>
              <a:t>A rate of 2.4 male and 1.9 female deaths pern for urban 3.2 male deaths and 2.4 female rural deaths per 1,000 populations </a:t>
            </a:r>
          </a:p>
          <a:p>
            <a:pPr>
              <a:lnSpc>
                <a:spcPct val="150000"/>
              </a:lnSpc>
            </a:pPr>
            <a:r>
              <a:rPr lang="en-US" sz="2400" b="0" dirty="0">
                <a:latin typeface="Times New Roman" pitchFamily="18" charset="0"/>
                <a:cs typeface="Times New Roman" pitchFamily="18" charset="0"/>
              </a:rPr>
              <a:t>Higher pregnancy-related mortality rate for age group of  </a:t>
            </a:r>
            <a:r>
              <a:rPr lang="en-US" sz="2400" dirty="0">
                <a:latin typeface="Times New Roman" pitchFamily="18" charset="0"/>
                <a:cs typeface="Times New Roman" pitchFamily="18" charset="0"/>
              </a:rPr>
              <a:t>15</a:t>
            </a:r>
            <a:r>
              <a:rPr lang="en-US" sz="2400" b="0" dirty="0">
                <a:latin typeface="Times New Roman" pitchFamily="18" charset="0"/>
                <a:cs typeface="Times New Roman" pitchFamily="18" charset="0"/>
              </a:rPr>
              <a:t>-24 years </a:t>
            </a:r>
            <a:r>
              <a:rPr lang="en-US" sz="2400" dirty="0">
                <a:latin typeface="Times New Roman" pitchFamily="18" charset="0"/>
                <a:cs typeface="Times New Roman" pitchFamily="18" charset="0"/>
              </a:rPr>
              <a:t>compared </a:t>
            </a:r>
            <a:r>
              <a:rPr lang="en-US" sz="2400" b="0" dirty="0">
                <a:latin typeface="Times New Roman" pitchFamily="18" charset="0"/>
                <a:cs typeface="Times New Roman" pitchFamily="18" charset="0"/>
              </a:rPr>
              <a:t>to other age group</a:t>
            </a:r>
          </a:p>
          <a:p>
            <a:endParaRPr lang="en-GB" sz="2800" b="0" dirty="0">
              <a:solidFill>
                <a:schemeClr val="tx1"/>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B355EF6D-CC0A-44F4-A399-2B98A714AA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6014291"/>
            <a:ext cx="1052186" cy="925417"/>
          </a:xfrm>
          <a:prstGeom prst="rect">
            <a:avLst/>
          </a:prstGeom>
        </p:spPr>
      </p:pic>
    </p:spTree>
    <p:extLst>
      <p:ext uri="{BB962C8B-B14F-4D97-AF65-F5344CB8AC3E}">
        <p14:creationId xmlns:p14="http://schemas.microsoft.com/office/powerpoint/2010/main" val="2489661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534400" cy="914400"/>
          </a:xfrm>
        </p:spPr>
        <p:txBody>
          <a:bodyPr/>
          <a:lstStyle/>
          <a:p>
            <a:r>
              <a:rPr lang="en-US" sz="2800" dirty="0">
                <a:solidFill>
                  <a:srgbClr val="002060"/>
                </a:solidFill>
                <a:latin typeface="Gill Sans MT" panose="020B0502020104020203" pitchFamily="34" charset="0"/>
              </a:rPr>
              <a:t>Female : Trends of mortality with age group</a:t>
            </a:r>
          </a:p>
        </p:txBody>
      </p:sp>
      <p:pic>
        <p:nvPicPr>
          <p:cNvPr id="4" name="Picture 3">
            <a:extLst>
              <a:ext uri="{FF2B5EF4-FFF2-40B4-BE49-F238E27FC236}">
                <a16:creationId xmlns:a16="http://schemas.microsoft.com/office/drawing/2014/main" id="{B355EF6D-CC0A-44F4-A399-2B98A714AA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grpSp>
        <p:nvGrpSpPr>
          <p:cNvPr id="6" name="Group 4">
            <a:extLst>
              <a:ext uri="{FF2B5EF4-FFF2-40B4-BE49-F238E27FC236}">
                <a16:creationId xmlns:a16="http://schemas.microsoft.com/office/drawing/2014/main" id="{E373E1FB-CE8F-4492-AF17-592F97BA2197}"/>
              </a:ext>
            </a:extLst>
          </p:cNvPr>
          <p:cNvGrpSpPr>
            <a:grpSpLocks/>
          </p:cNvGrpSpPr>
          <p:nvPr/>
        </p:nvGrpSpPr>
        <p:grpSpPr bwMode="auto">
          <a:xfrm>
            <a:off x="152400" y="1447800"/>
            <a:ext cx="8915399" cy="4419601"/>
            <a:chOff x="1166" y="252"/>
            <a:chExt cx="9290" cy="2965"/>
          </a:xfrm>
        </p:grpSpPr>
        <p:pic>
          <p:nvPicPr>
            <p:cNvPr id="7" name="Picture 5">
              <a:extLst>
                <a:ext uri="{FF2B5EF4-FFF2-40B4-BE49-F238E27FC236}">
                  <a16:creationId xmlns:a16="http://schemas.microsoft.com/office/drawing/2014/main" id="{00A96584-1CAD-4288-AA67-580605AD47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1" y="360"/>
              <a:ext cx="8987" cy="2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a:extLst>
                <a:ext uri="{FF2B5EF4-FFF2-40B4-BE49-F238E27FC236}">
                  <a16:creationId xmlns:a16="http://schemas.microsoft.com/office/drawing/2014/main" id="{9719B6CE-6853-41FB-A06A-1D033E844946}"/>
                </a:ext>
              </a:extLst>
            </p:cNvPr>
            <p:cNvSpPr>
              <a:spLocks noChangeArrowheads="1"/>
            </p:cNvSpPr>
            <p:nvPr/>
          </p:nvSpPr>
          <p:spPr bwMode="auto">
            <a:xfrm>
              <a:off x="1166" y="252"/>
              <a:ext cx="9290" cy="2965"/>
            </a:xfrm>
            <a:prstGeom prst="rect">
              <a:avLst/>
            </a:prstGeom>
            <a:noFill/>
            <a:ln w="41922">
              <a:solidFill>
                <a:srgbClr val="1074B7"/>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Tree>
    <p:extLst>
      <p:ext uri="{BB962C8B-B14F-4D97-AF65-F5344CB8AC3E}">
        <p14:creationId xmlns:p14="http://schemas.microsoft.com/office/powerpoint/2010/main" val="2826720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002060"/>
                </a:solidFill>
                <a:latin typeface="Gill Sans MT" panose="020B0502020104020203" pitchFamily="34" charset="0"/>
              </a:rPr>
              <a:t>Male: Adolescent and youth  mortality trend  with age group</a:t>
            </a:r>
          </a:p>
        </p:txBody>
      </p:sp>
      <p:pic>
        <p:nvPicPr>
          <p:cNvPr id="4" name="Picture 3">
            <a:extLst>
              <a:ext uri="{FF2B5EF4-FFF2-40B4-BE49-F238E27FC236}">
                <a16:creationId xmlns:a16="http://schemas.microsoft.com/office/drawing/2014/main" id="{B355EF6D-CC0A-44F4-A399-2B98A714AA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pic>
        <p:nvPicPr>
          <p:cNvPr id="6" name="Content Placeholder 4">
            <a:extLst>
              <a:ext uri="{FF2B5EF4-FFF2-40B4-BE49-F238E27FC236}">
                <a16:creationId xmlns:a16="http://schemas.microsoft.com/office/drawing/2014/main" id="{634F1600-AF32-4DC5-905B-F3DD443B632F}"/>
              </a:ext>
            </a:extLs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a:xfrm>
            <a:off x="623934" y="1264024"/>
            <a:ext cx="8089760" cy="4527176"/>
          </a:xfrm>
        </p:spPr>
      </p:pic>
    </p:spTree>
    <p:extLst>
      <p:ext uri="{BB962C8B-B14F-4D97-AF65-F5344CB8AC3E}">
        <p14:creationId xmlns:p14="http://schemas.microsoft.com/office/powerpoint/2010/main" val="101111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29DB-B71D-421D-BED0-1643B6321BD7}"/>
              </a:ext>
            </a:extLst>
          </p:cNvPr>
          <p:cNvSpPr>
            <a:spLocks noGrp="1"/>
          </p:cNvSpPr>
          <p:nvPr>
            <p:ph type="title"/>
          </p:nvPr>
        </p:nvSpPr>
        <p:spPr>
          <a:xfrm>
            <a:off x="722313" y="2514601"/>
            <a:ext cx="7772400" cy="1676400"/>
          </a:xfrm>
        </p:spPr>
        <p:txBody>
          <a:bodyPr/>
          <a:lstStyle/>
          <a:p>
            <a:pPr fontAlgn="auto">
              <a:spcAft>
                <a:spcPts val="0"/>
              </a:spcAft>
              <a:defRPr/>
            </a:pPr>
            <a:r>
              <a:rPr lang="en-US" sz="2000" dirty="0">
                <a:latin typeface="Gill Sans MT" panose="020B0502020104020203" pitchFamily="34" charset="0"/>
              </a:rPr>
              <a:t>1.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are the common health problems of AY observed in your health facility? </a:t>
            </a:r>
            <a:br>
              <a:rPr lang="en-US" sz="1800" dirty="0">
                <a:effectLst/>
                <a:latin typeface="Calibri" panose="020F0502020204030204" pitchFamily="34" charset="0"/>
                <a:ea typeface="Times New Roman" panose="02020603050405020304" pitchFamily="18" charset="0"/>
                <a:cs typeface="Times New Roman" panose="02020603050405020304" pitchFamily="18" charset="0"/>
              </a:rPr>
            </a:br>
            <a:r>
              <a:rPr lang="en-US" sz="2000" dirty="0">
                <a:latin typeface="Gill Sans MT" panose="020B0502020104020203" pitchFamily="34" charset="0"/>
              </a:rPr>
              <a:t> </a:t>
            </a:r>
            <a:br>
              <a:rPr lang="en-US" sz="2000" dirty="0">
                <a:latin typeface="Gill Sans MT" panose="020B0502020104020203" pitchFamily="34" charset="0"/>
              </a:rPr>
            </a:br>
            <a:r>
              <a:rPr lang="en-US" sz="2000" dirty="0">
                <a:latin typeface="Gill Sans MT" panose="020B0502020104020203" pitchFamily="34" charset="0"/>
              </a:rPr>
              <a:t>Time 5’</a:t>
            </a:r>
            <a:br>
              <a:rPr lang="en-US" sz="2000" dirty="0">
                <a:solidFill>
                  <a:schemeClr val="tx2">
                    <a:lumMod val="50000"/>
                  </a:schemeClr>
                </a:solidFill>
                <a:latin typeface="Gill Sans MT" panose="020B0502020104020203" pitchFamily="34" charset="0"/>
              </a:rPr>
            </a:br>
            <a:endParaRPr lang="en-US" sz="2000" dirty="0">
              <a:latin typeface="Gill Sans MT" panose="020B0502020104020203" pitchFamily="34" charset="0"/>
            </a:endParaRPr>
          </a:p>
        </p:txBody>
      </p:sp>
      <p:sp>
        <p:nvSpPr>
          <p:cNvPr id="3" name="Text Placeholder 2">
            <a:extLst>
              <a:ext uri="{FF2B5EF4-FFF2-40B4-BE49-F238E27FC236}">
                <a16:creationId xmlns:a16="http://schemas.microsoft.com/office/drawing/2014/main" id="{A44A7F19-7672-469D-893D-DF6796BB1DB6}"/>
              </a:ext>
            </a:extLst>
          </p:cNvPr>
          <p:cNvSpPr>
            <a:spLocks noGrp="1"/>
          </p:cNvSpPr>
          <p:nvPr>
            <p:ph type="body" idx="1"/>
          </p:nvPr>
        </p:nvSpPr>
        <p:spPr>
          <a:xfrm>
            <a:off x="678493" y="228600"/>
            <a:ext cx="7772400" cy="1042987"/>
          </a:xfrm>
        </p:spPr>
        <p:txBody>
          <a:bodyPr/>
          <a:lstStyle/>
          <a:p>
            <a:pPr algn="ctr"/>
            <a:r>
              <a:rPr lang="en-US" sz="4000" b="1" dirty="0">
                <a:solidFill>
                  <a:srgbClr val="002060"/>
                </a:solidFill>
                <a:latin typeface="Gill Sans MT" panose="020B0502020104020203" pitchFamily="34" charset="0"/>
              </a:rPr>
              <a:t>Pair share </a:t>
            </a:r>
            <a:endParaRPr lang="en-US" sz="3200" b="1" dirty="0">
              <a:solidFill>
                <a:srgbClr val="002060"/>
              </a:solidFill>
              <a:latin typeface="Gill Sans MT" panose="020B0502020104020203" pitchFamily="34" charset="0"/>
            </a:endParaRPr>
          </a:p>
        </p:txBody>
      </p:sp>
      <p:pic>
        <p:nvPicPr>
          <p:cNvPr id="4" name="Picture 3">
            <a:extLst>
              <a:ext uri="{FF2B5EF4-FFF2-40B4-BE49-F238E27FC236}">
                <a16:creationId xmlns:a16="http://schemas.microsoft.com/office/drawing/2014/main" id="{3C67FAB7-177D-4DBD-9F00-3FB38A12D1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2913607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D4FC2-75C2-467B-99EC-482EF3ADE583}"/>
              </a:ext>
            </a:extLst>
          </p:cNvPr>
          <p:cNvSpPr>
            <a:spLocks noGrp="1"/>
          </p:cNvSpPr>
          <p:nvPr>
            <p:ph type="title"/>
          </p:nvPr>
        </p:nvSpPr>
        <p:spPr/>
        <p:txBody>
          <a:bodyPr/>
          <a:lstStyle/>
          <a:p>
            <a:r>
              <a:rPr lang="en-US" sz="3200" b="1" dirty="0">
                <a:solidFill>
                  <a:srgbClr val="002060"/>
                </a:solidFill>
                <a:latin typeface="Gill Sans MT" panose="020B0502020104020203" pitchFamily="34" charset="0"/>
                <a:cs typeface="Times New Roman" pitchFamily="18" charset="0"/>
              </a:rPr>
              <a:t>Epidemiology of Adolescents and Youth Health Problems</a:t>
            </a:r>
            <a:endParaRPr lang="en-US" dirty="0">
              <a:solidFill>
                <a:srgbClr val="002060"/>
              </a:solidFill>
              <a:latin typeface="Gill Sans MT" panose="020B0502020104020203" pitchFamily="34" charset="0"/>
            </a:endParaRPr>
          </a:p>
        </p:txBody>
      </p:sp>
      <p:sp>
        <p:nvSpPr>
          <p:cNvPr id="3" name="Content Placeholder 2">
            <a:extLst>
              <a:ext uri="{FF2B5EF4-FFF2-40B4-BE49-F238E27FC236}">
                <a16:creationId xmlns:a16="http://schemas.microsoft.com/office/drawing/2014/main" id="{670DD0E0-AAAE-4C28-B033-777BDC1E3C7D}"/>
              </a:ext>
            </a:extLst>
          </p:cNvPr>
          <p:cNvSpPr>
            <a:spLocks noGrp="1"/>
          </p:cNvSpPr>
          <p:nvPr>
            <p:ph idx="1"/>
          </p:nvPr>
        </p:nvSpPr>
        <p:spPr/>
        <p:txBody>
          <a:bodyPr/>
          <a:lstStyle/>
          <a:p>
            <a:pPr>
              <a:lnSpc>
                <a:spcPct val="150000"/>
              </a:lnSpc>
            </a:pPr>
            <a:r>
              <a:rPr lang="en-US" sz="2400" b="0" dirty="0">
                <a:latin typeface="Gill Sans MT" panose="020B0502020104020203" pitchFamily="34" charset="0"/>
                <a:cs typeface="Times New Roman" pitchFamily="18" charset="0"/>
              </a:rPr>
              <a:t>Global common causes of  AY morbidity:  injuries/violence; HIV/AIDS, SRH problems; substance use; mental health problems, nutritional problems, non-communicable diseases, and other infectious diseases</a:t>
            </a:r>
          </a:p>
          <a:p>
            <a:pPr>
              <a:lnSpc>
                <a:spcPct val="150000"/>
              </a:lnSpc>
            </a:pPr>
            <a:r>
              <a:rPr lang="en-US" sz="2400" b="0" dirty="0">
                <a:latin typeface="Gill Sans MT" panose="020B0502020104020203" pitchFamily="34" charset="0"/>
                <a:cs typeface="Times New Roman" pitchFamily="18" charset="0"/>
              </a:rPr>
              <a:t> Boys have higher mortality rates from unintentional injuries and violence compared to girls</a:t>
            </a:r>
          </a:p>
          <a:p>
            <a:pPr>
              <a:lnSpc>
                <a:spcPct val="150000"/>
              </a:lnSpc>
            </a:pPr>
            <a:r>
              <a:rPr lang="en-US" sz="2400" dirty="0">
                <a:latin typeface="Gill Sans MT" panose="020B0502020104020203" pitchFamily="34" charset="0"/>
                <a:cs typeface="Times New Roman" pitchFamily="18" charset="0"/>
              </a:rPr>
              <a:t>Decline mortality rate among girls</a:t>
            </a:r>
            <a:r>
              <a:rPr lang="en-US" sz="2400" b="0" dirty="0">
                <a:latin typeface="Gill Sans MT" panose="020B0502020104020203" pitchFamily="34" charset="0"/>
                <a:cs typeface="Times New Roman" pitchFamily="18" charset="0"/>
              </a:rPr>
              <a:t> and increment mortality rate among boys progressively</a:t>
            </a:r>
          </a:p>
          <a:p>
            <a:endParaRPr lang="en-US" dirty="0"/>
          </a:p>
        </p:txBody>
      </p:sp>
      <p:pic>
        <p:nvPicPr>
          <p:cNvPr id="4" name="Picture 3">
            <a:extLst>
              <a:ext uri="{FF2B5EF4-FFF2-40B4-BE49-F238E27FC236}">
                <a16:creationId xmlns:a16="http://schemas.microsoft.com/office/drawing/2014/main" id="{73A39D34-56FE-47B6-9380-99F5FD8CE1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019800"/>
            <a:ext cx="1052186" cy="925417"/>
          </a:xfrm>
          <a:prstGeom prst="rect">
            <a:avLst/>
          </a:prstGeom>
        </p:spPr>
      </p:pic>
    </p:spTree>
    <p:extLst>
      <p:ext uri="{BB962C8B-B14F-4D97-AF65-F5344CB8AC3E}">
        <p14:creationId xmlns:p14="http://schemas.microsoft.com/office/powerpoint/2010/main" val="3003308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8D693-E27F-4643-B277-FF506C680E66}"/>
              </a:ext>
            </a:extLst>
          </p:cNvPr>
          <p:cNvSpPr>
            <a:spLocks noGrp="1"/>
          </p:cNvSpPr>
          <p:nvPr>
            <p:ph type="title"/>
          </p:nvPr>
        </p:nvSpPr>
        <p:spPr/>
        <p:txBody>
          <a:bodyPr/>
          <a:lstStyle/>
          <a:p>
            <a:r>
              <a:rPr lang="en-US" sz="3200" b="1" dirty="0">
                <a:solidFill>
                  <a:srgbClr val="002060"/>
                </a:solidFill>
                <a:latin typeface="Times New Roman" pitchFamily="18" charset="0"/>
                <a:cs typeface="Times New Roman" pitchFamily="18" charset="0"/>
              </a:rPr>
              <a:t>Epidemiology of Adolescents and Youth Health Problems…</a:t>
            </a:r>
            <a:endParaRPr lang="en-US" dirty="0">
              <a:solidFill>
                <a:srgbClr val="002060"/>
              </a:solidFill>
            </a:endParaRPr>
          </a:p>
        </p:txBody>
      </p:sp>
      <p:sp>
        <p:nvSpPr>
          <p:cNvPr id="3" name="Content Placeholder 2">
            <a:extLst>
              <a:ext uri="{FF2B5EF4-FFF2-40B4-BE49-F238E27FC236}">
                <a16:creationId xmlns:a16="http://schemas.microsoft.com/office/drawing/2014/main" id="{ADCF8CDF-B92F-472B-852A-0E16A5CA73FB}"/>
              </a:ext>
            </a:extLst>
          </p:cNvPr>
          <p:cNvSpPr>
            <a:spLocks noGrp="1"/>
          </p:cNvSpPr>
          <p:nvPr>
            <p:ph idx="1"/>
          </p:nvPr>
        </p:nvSpPr>
        <p:spPr/>
        <p:txBody>
          <a:bodyPr/>
          <a:lstStyle/>
          <a:p>
            <a:pPr marL="0" indent="0">
              <a:buNone/>
              <a:defRPr/>
            </a:pPr>
            <a:r>
              <a:rPr lang="en-US" sz="2400" b="1" dirty="0">
                <a:latin typeface="Gill Sans MT" panose="020B0502020104020203" pitchFamily="34" charset="0"/>
                <a:cs typeface="Times New Roman" pitchFamily="18" charset="0"/>
              </a:rPr>
              <a:t>Injuries </a:t>
            </a:r>
          </a:p>
          <a:p>
            <a:pPr marL="860425" indent="-457200">
              <a:defRPr/>
            </a:pPr>
            <a:r>
              <a:rPr lang="en-US" sz="2400" dirty="0">
                <a:latin typeface="Gill Sans MT" panose="020B0502020104020203" pitchFamily="34" charset="0"/>
                <a:cs typeface="Times New Roman" pitchFamily="18" charset="0"/>
              </a:rPr>
              <a:t>Road traffic injuries, physical fights, and burns are the most common injuries  </a:t>
            </a:r>
          </a:p>
          <a:p>
            <a:pPr marL="860425" indent="-457200">
              <a:defRPr/>
            </a:pPr>
            <a:r>
              <a:rPr lang="en-US" sz="2400" dirty="0">
                <a:latin typeface="Gill Sans MT" panose="020B0502020104020203" pitchFamily="34" charset="0"/>
                <a:cs typeface="Times New Roman" pitchFamily="18" charset="0"/>
              </a:rPr>
              <a:t>Physical fight and substance abuse are more common among boys than girls</a:t>
            </a:r>
          </a:p>
          <a:p>
            <a:pPr marL="860425" indent="-457200">
              <a:defRPr/>
            </a:pPr>
            <a:r>
              <a:rPr lang="en-US" sz="2400" dirty="0">
                <a:latin typeface="Gill Sans MT" panose="020B0502020104020203" pitchFamily="34" charset="0"/>
                <a:cs typeface="Times New Roman" pitchFamily="18" charset="0"/>
              </a:rPr>
              <a:t>Road Traffic Accidents (RTA) cause 22.9% of the mortality or injury among adolescents and youth in Ethiopia </a:t>
            </a:r>
            <a:endParaRPr lang="en-US" sz="2400" dirty="0">
              <a:solidFill>
                <a:srgbClr val="FF0000"/>
              </a:solidFill>
              <a:latin typeface="Gill Sans MT" panose="020B0502020104020203" pitchFamily="34" charset="0"/>
              <a:cs typeface="Times New Roman" pitchFamily="18" charset="0"/>
            </a:endParaRPr>
          </a:p>
          <a:p>
            <a:pPr>
              <a:defRPr/>
            </a:pPr>
            <a:endParaRPr lang="en-US" sz="2400" dirty="0"/>
          </a:p>
        </p:txBody>
      </p:sp>
      <p:pic>
        <p:nvPicPr>
          <p:cNvPr id="4" name="Picture 3">
            <a:extLst>
              <a:ext uri="{FF2B5EF4-FFF2-40B4-BE49-F238E27FC236}">
                <a16:creationId xmlns:a16="http://schemas.microsoft.com/office/drawing/2014/main" id="{900BF010-2AD8-4651-BC8A-FA1AD7BD2D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348423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defRPr/>
            </a:pPr>
            <a:r>
              <a:rPr lang="en-US" b="1" dirty="0">
                <a:latin typeface="Gill Sans MT" panose="020B0502020104020203" pitchFamily="34" charset="0"/>
                <a:cs typeface="Times New Roman" pitchFamily="18" charset="0"/>
              </a:rPr>
              <a:t>Gender-Based Violence</a:t>
            </a:r>
          </a:p>
          <a:p>
            <a:pPr marL="804863" indent="-401638">
              <a:defRPr/>
            </a:pPr>
            <a:r>
              <a:rPr lang="en-US" dirty="0">
                <a:latin typeface="Gill Sans MT" panose="020B0502020104020203" pitchFamily="34" charset="0"/>
                <a:cs typeface="Times New Roman" pitchFamily="18" charset="0"/>
              </a:rPr>
              <a:t>The GBV is a major problem in Ethiopia. </a:t>
            </a:r>
          </a:p>
          <a:p>
            <a:pPr marL="804863" indent="-401638">
              <a:defRPr/>
            </a:pPr>
            <a:r>
              <a:rPr lang="en-US" dirty="0">
                <a:latin typeface="Gill Sans MT" panose="020B0502020104020203" pitchFamily="34" charset="0"/>
                <a:cs typeface="Times New Roman" pitchFamily="18" charset="0"/>
              </a:rPr>
              <a:t>Common, with 23% physical, 10% sexual violence </a:t>
            </a:r>
          </a:p>
          <a:p>
            <a:pPr marL="804863" indent="-401638">
              <a:defRPr/>
            </a:pPr>
            <a:r>
              <a:rPr lang="en-US" dirty="0">
                <a:latin typeface="Gill Sans MT" panose="020B0502020104020203" pitchFamily="34" charset="0"/>
                <a:cs typeface="Times New Roman" pitchFamily="18" charset="0"/>
              </a:rPr>
              <a:t>Only a few (25%)  sought help (EDHS 2016).</a:t>
            </a:r>
          </a:p>
          <a:p>
            <a:endParaRPr lang="en-US" dirty="0"/>
          </a:p>
        </p:txBody>
      </p:sp>
    </p:spTree>
    <p:extLst>
      <p:ext uri="{BB962C8B-B14F-4D97-AF65-F5344CB8AC3E}">
        <p14:creationId xmlns:p14="http://schemas.microsoft.com/office/powerpoint/2010/main" val="424887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F644-647B-48C5-8FD4-E2B5E48D1294}"/>
              </a:ext>
            </a:extLst>
          </p:cNvPr>
          <p:cNvSpPr>
            <a:spLocks noGrp="1"/>
          </p:cNvSpPr>
          <p:nvPr>
            <p:ph type="title"/>
          </p:nvPr>
        </p:nvSpPr>
        <p:spPr/>
        <p:txBody>
          <a:bodyPr/>
          <a:lstStyle/>
          <a:p>
            <a:r>
              <a:rPr lang="en-US" sz="2800" dirty="0">
                <a:solidFill>
                  <a:srgbClr val="002060"/>
                </a:solidFill>
                <a:latin typeface="Gill Sans MT" panose="020B0502020104020203" pitchFamily="34" charset="0"/>
              </a:rPr>
              <a:t>Epidemiology of Adolescents and Youth Health Problems…</a:t>
            </a:r>
          </a:p>
        </p:txBody>
      </p:sp>
      <p:sp>
        <p:nvSpPr>
          <p:cNvPr id="3" name="Content Placeholder 2">
            <a:extLst>
              <a:ext uri="{FF2B5EF4-FFF2-40B4-BE49-F238E27FC236}">
                <a16:creationId xmlns:a16="http://schemas.microsoft.com/office/drawing/2014/main" id="{B9F8F2B5-1746-4D7A-A4FA-35EC115B3DC1}"/>
              </a:ext>
            </a:extLst>
          </p:cNvPr>
          <p:cNvSpPr>
            <a:spLocks noGrp="1"/>
          </p:cNvSpPr>
          <p:nvPr>
            <p:ph idx="1"/>
          </p:nvPr>
        </p:nvSpPr>
        <p:spPr/>
        <p:txBody>
          <a:bodyPr/>
          <a:lstStyle/>
          <a:p>
            <a:pPr marL="0" indent="0">
              <a:buNone/>
              <a:defRPr/>
            </a:pPr>
            <a:r>
              <a:rPr lang="en-US" sz="2400" b="1" dirty="0">
                <a:latin typeface="Gill Sans MT" panose="020B0502020104020203" pitchFamily="34" charset="0"/>
                <a:cs typeface="Times New Roman" pitchFamily="18" charset="0"/>
              </a:rPr>
              <a:t>Adolescent Nutrition</a:t>
            </a:r>
          </a:p>
          <a:p>
            <a:r>
              <a:rPr lang="en-US" sz="2000" dirty="0">
                <a:latin typeface="Gill Sans MT" panose="020B0502020104020203" pitchFamily="34" charset="0"/>
              </a:rPr>
              <a:t>Men are generally thinner(32.3%) (BMI &lt;18.5) than women( 22.4%) This figure is much high for adolescent boys aged 15-19 years of age (59%) than adolescent girls (29%). </a:t>
            </a:r>
          </a:p>
          <a:p>
            <a:r>
              <a:rPr lang="en-US" sz="2000" dirty="0">
                <a:latin typeface="Gill Sans MT" panose="020B0502020104020203" pitchFamily="34" charset="0"/>
                <a:cs typeface="Times New Roman" pitchFamily="18" charset="0"/>
              </a:rPr>
              <a:t>Nearly twice (31%)</a:t>
            </a:r>
            <a:r>
              <a:rPr lang="en-US" sz="2000" b="0" dirty="0">
                <a:solidFill>
                  <a:schemeClr val="tx1"/>
                </a:solidFill>
                <a:latin typeface="Gill Sans MT" panose="020B0502020104020203" pitchFamily="34" charset="0"/>
                <a:cs typeface="Times New Roman" pitchFamily="18" charset="0"/>
              </a:rPr>
              <a:t>high underweight among rural adolescents than urban(17%).</a:t>
            </a:r>
          </a:p>
          <a:p>
            <a:r>
              <a:rPr lang="en-US" sz="2000" dirty="0">
                <a:latin typeface="Gill Sans MT" panose="020B0502020104020203" pitchFamily="34" charset="0"/>
                <a:cs typeface="Times New Roman" pitchFamily="18" charset="0"/>
              </a:rPr>
              <a:t>High (11,3) o</a:t>
            </a:r>
            <a:r>
              <a:rPr lang="en-US" sz="2000" b="0" dirty="0">
                <a:solidFill>
                  <a:schemeClr val="tx1"/>
                </a:solidFill>
                <a:latin typeface="Gill Sans MT" panose="020B0502020104020203" pitchFamily="34" charset="0"/>
                <a:cs typeface="Times New Roman" pitchFamily="18" charset="0"/>
              </a:rPr>
              <a:t>besity among children and adolescents</a:t>
            </a:r>
          </a:p>
        </p:txBody>
      </p:sp>
      <p:pic>
        <p:nvPicPr>
          <p:cNvPr id="4" name="Picture 3">
            <a:extLst>
              <a:ext uri="{FF2B5EF4-FFF2-40B4-BE49-F238E27FC236}">
                <a16:creationId xmlns:a16="http://schemas.microsoft.com/office/drawing/2014/main" id="{63434765-B945-4020-A981-388F0A825A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4221649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latin typeface="Gill Sans MT" panose="020B0502020104020203" pitchFamily="34" charset="0"/>
              </a:rPr>
              <a:t>Epidemiology of Adolescents and Youth Health Problems…</a:t>
            </a:r>
            <a:endParaRPr lang="en-US" dirty="0">
              <a:solidFill>
                <a:srgbClr val="002060"/>
              </a:solidFill>
            </a:endParaRPr>
          </a:p>
        </p:txBody>
      </p:sp>
      <p:sp>
        <p:nvSpPr>
          <p:cNvPr id="3" name="Content Placeholder 2"/>
          <p:cNvSpPr>
            <a:spLocks noGrp="1"/>
          </p:cNvSpPr>
          <p:nvPr>
            <p:ph idx="1"/>
          </p:nvPr>
        </p:nvSpPr>
        <p:spPr/>
        <p:txBody>
          <a:bodyPr/>
          <a:lstStyle/>
          <a:p>
            <a:pPr marL="0" indent="0">
              <a:buNone/>
            </a:pPr>
            <a:r>
              <a:rPr lang="en-US" sz="3200" b="1" dirty="0">
                <a:latin typeface="Gill Sans MT" panose="020B0502020104020203" pitchFamily="34" charset="0"/>
                <a:cs typeface="Times New Roman" pitchFamily="18" charset="0"/>
              </a:rPr>
              <a:t>Substance Use</a:t>
            </a:r>
          </a:p>
          <a:p>
            <a:pPr>
              <a:defRPr/>
            </a:pPr>
            <a:r>
              <a:rPr lang="en-US" sz="2400" dirty="0">
                <a:latin typeface="Gill Sans MT" panose="020B0502020104020203" pitchFamily="34" charset="0"/>
                <a:cs typeface="Times New Roman" pitchFamily="18" charset="0"/>
              </a:rPr>
              <a:t>Harmful substance use (tobacco, alcohol, and illicit substances) increases the risk for cancers, CVD, and respiratory illnesses later in life.</a:t>
            </a:r>
          </a:p>
          <a:p>
            <a:pPr>
              <a:defRPr/>
            </a:pPr>
            <a:r>
              <a:rPr lang="en-US" sz="2400" dirty="0">
                <a:latin typeface="Gill Sans MT" panose="020B0502020104020203" pitchFamily="34" charset="0"/>
                <a:cs typeface="Times New Roman" pitchFamily="18" charset="0"/>
              </a:rPr>
              <a:t>Among </a:t>
            </a:r>
            <a:r>
              <a:rPr lang="en-US" sz="2400" dirty="0">
                <a:solidFill>
                  <a:srgbClr val="305B75"/>
                </a:solidFill>
                <a:latin typeface="Gill Sans MT" panose="020B0502020104020203" pitchFamily="34" charset="0"/>
                <a:cs typeface="Times New Roman" pitchFamily="18" charset="0"/>
              </a:rPr>
              <a:t>15-19 years -</a:t>
            </a:r>
            <a:r>
              <a:rPr lang="en-US" sz="2400" dirty="0">
                <a:latin typeface="Gill Sans MT" panose="020B0502020104020203" pitchFamily="34" charset="0"/>
                <a:cs typeface="Times New Roman" pitchFamily="18" charset="0"/>
              </a:rPr>
              <a:t>Alcohol is used by 37% of girls and 43% of boys </a:t>
            </a:r>
          </a:p>
          <a:p>
            <a:pPr>
              <a:defRPr/>
            </a:pPr>
            <a:r>
              <a:rPr lang="en-US" sz="2400" dirty="0">
                <a:latin typeface="Gill Sans MT" panose="020B0502020104020203" pitchFamily="34" charset="0"/>
                <a:cs typeface="Times New Roman" pitchFamily="18" charset="0"/>
              </a:rPr>
              <a:t>Chat is used by 57% of boys and 37% of girls </a:t>
            </a:r>
            <a:endParaRPr lang="en-US" sz="2400" dirty="0">
              <a:latin typeface="Gill Sans MT" panose="020B0502020104020203" pitchFamily="34" charset="0"/>
            </a:endParaRPr>
          </a:p>
          <a:p>
            <a:endParaRPr lang="en-US" sz="2400" dirty="0"/>
          </a:p>
        </p:txBody>
      </p:sp>
    </p:spTree>
    <p:extLst>
      <p:ext uri="{BB962C8B-B14F-4D97-AF65-F5344CB8AC3E}">
        <p14:creationId xmlns:p14="http://schemas.microsoft.com/office/powerpoint/2010/main" val="2603978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990600"/>
          </a:xfrm>
        </p:spPr>
        <p:txBody>
          <a:bodyPr/>
          <a:lstStyle/>
          <a:p>
            <a:r>
              <a:rPr lang="en-US" sz="2800" dirty="0">
                <a:solidFill>
                  <a:srgbClr val="002060"/>
                </a:solidFill>
                <a:latin typeface="Gill Sans MT" panose="020B0502020104020203" pitchFamily="34" charset="0"/>
              </a:rPr>
              <a:t>Epidemiology of Adolescents and Youth Health Problems…</a:t>
            </a:r>
            <a:endParaRPr lang="en-US" sz="2800" dirty="0">
              <a:solidFill>
                <a:srgbClr val="002060"/>
              </a:solidFill>
            </a:endParaRPr>
          </a:p>
        </p:txBody>
      </p:sp>
      <p:sp>
        <p:nvSpPr>
          <p:cNvPr id="6" name="Content Placeholder 5"/>
          <p:cNvSpPr>
            <a:spLocks noGrp="1"/>
          </p:cNvSpPr>
          <p:nvPr>
            <p:ph idx="1"/>
          </p:nvPr>
        </p:nvSpPr>
        <p:spPr>
          <a:xfrm>
            <a:off x="228600" y="1600200"/>
            <a:ext cx="8763000" cy="4876800"/>
          </a:xfrm>
        </p:spPr>
        <p:txBody>
          <a:bodyPr/>
          <a:lstStyle/>
          <a:p>
            <a:pPr marL="0" indent="0">
              <a:buNone/>
            </a:pPr>
            <a:r>
              <a:rPr lang="en-US" sz="2400" b="1" dirty="0">
                <a:latin typeface="Times New Roman" pitchFamily="18" charset="0"/>
                <a:cs typeface="Times New Roman" pitchFamily="18" charset="0"/>
              </a:rPr>
              <a:t>Mental Health</a:t>
            </a:r>
          </a:p>
          <a:p>
            <a:pPr>
              <a:lnSpc>
                <a:spcPct val="150000"/>
              </a:lnSpc>
            </a:pPr>
            <a:r>
              <a:rPr lang="en-GB" sz="2400" dirty="0">
                <a:latin typeface="Times New Roman" pitchFamily="18" charset="0"/>
                <a:cs typeface="Times New Roman" pitchFamily="18" charset="0"/>
              </a:rPr>
              <a:t>Most mental disorders begin during adolescence and youth </a:t>
            </a:r>
          </a:p>
          <a:p>
            <a:pPr>
              <a:lnSpc>
                <a:spcPct val="150000"/>
              </a:lnSpc>
            </a:pPr>
            <a:r>
              <a:rPr lang="en-US" sz="2400" dirty="0">
                <a:latin typeface="Times New Roman" pitchFamily="18" charset="0"/>
                <a:cs typeface="Times New Roman" pitchFamily="18" charset="0"/>
              </a:rPr>
              <a:t>The 75% of mental disorders in adulthood have their onset in youth</a:t>
            </a:r>
          </a:p>
          <a:p>
            <a:pPr>
              <a:lnSpc>
                <a:spcPct val="150000"/>
              </a:lnSpc>
            </a:pPr>
            <a:r>
              <a:rPr lang="en-US" sz="2400" dirty="0">
                <a:latin typeface="Times New Roman" pitchFamily="18" charset="0"/>
                <a:cs typeface="Times New Roman" pitchFamily="18" charset="0"/>
              </a:rPr>
              <a:t>Mental health problem in children and adolescents is estimated to be between 17% and 23%, </a:t>
            </a:r>
          </a:p>
          <a:p>
            <a:endParaRPr lang="en-US" sz="2000" dirty="0">
              <a:latin typeface="Times New Roman" pitchFamily="18" charset="0"/>
              <a:cs typeface="Times New Roman" pitchFamily="18" charset="0"/>
            </a:endParaRPr>
          </a:p>
          <a:p>
            <a:endParaRPr lang="en-GB" sz="20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D5D5E090-E001-4BB0-BA6A-5E2E1DB7DA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300228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latin typeface="Gill Sans MT" panose="020B0502020104020203" pitchFamily="34" charset="0"/>
              </a:rPr>
              <a:t>Epidemiology of Adolescents and Youth Health Problems…</a:t>
            </a:r>
            <a:endParaRPr lang="en-US" dirty="0">
              <a:solidFill>
                <a:srgbClr val="002060"/>
              </a:solidFill>
            </a:endParaRPr>
          </a:p>
        </p:txBody>
      </p:sp>
      <p:sp>
        <p:nvSpPr>
          <p:cNvPr id="3" name="Content Placeholder 2"/>
          <p:cNvSpPr>
            <a:spLocks noGrp="1"/>
          </p:cNvSpPr>
          <p:nvPr>
            <p:ph idx="1"/>
          </p:nvPr>
        </p:nvSpPr>
        <p:spPr/>
        <p:txBody>
          <a:bodyPr/>
          <a:lstStyle/>
          <a:p>
            <a:pPr marL="0" indent="0">
              <a:buNone/>
            </a:pPr>
            <a:r>
              <a:rPr lang="en-US" b="1" dirty="0">
                <a:latin typeface="Times New Roman" pitchFamily="18" charset="0"/>
                <a:cs typeface="Times New Roman" pitchFamily="18" charset="0"/>
              </a:rPr>
              <a:t>SRH problem</a:t>
            </a:r>
          </a:p>
          <a:p>
            <a:r>
              <a:rPr lang="en-GB" dirty="0">
                <a:latin typeface="Times New Roman" pitchFamily="18" charset="0"/>
                <a:cs typeface="Times New Roman" pitchFamily="18" charset="0"/>
              </a:rPr>
              <a:t>Early sexual debut, risky sexual practices, child marriage, early childbearing, unintended pregnancy, unsafe abortion, and STIs including HIV are their problem</a:t>
            </a:r>
          </a:p>
          <a:p>
            <a:r>
              <a:rPr lang="en-US" dirty="0">
                <a:latin typeface="Times New Roman" pitchFamily="18" charset="0"/>
                <a:cs typeface="Times New Roman" pitchFamily="18" charset="0"/>
              </a:rPr>
              <a:t>Girls  started sex earlier (16.4years)  and  married as teens ( 17.8 years ), more in rural that urban areas</a:t>
            </a:r>
          </a:p>
          <a:p>
            <a:r>
              <a:rPr lang="en-US" dirty="0">
                <a:latin typeface="Times New Roman" pitchFamily="18" charset="0"/>
                <a:cs typeface="Times New Roman" pitchFamily="18" charset="0"/>
              </a:rPr>
              <a:t> High adolescent fertility rate with regional variation</a:t>
            </a:r>
          </a:p>
          <a:p>
            <a:endParaRPr lang="en-US" dirty="0"/>
          </a:p>
        </p:txBody>
      </p:sp>
    </p:spTree>
    <p:extLst>
      <p:ext uri="{BB962C8B-B14F-4D97-AF65-F5344CB8AC3E}">
        <p14:creationId xmlns:p14="http://schemas.microsoft.com/office/powerpoint/2010/main" val="1739748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2.png">
            <a:extLst>
              <a:ext uri="{FF2B5EF4-FFF2-40B4-BE49-F238E27FC236}">
                <a16:creationId xmlns:a16="http://schemas.microsoft.com/office/drawing/2014/main" id="{929753A2-A275-496F-A3DC-FDB8957554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2073" t="17285" r="8653" b="18140"/>
          <a:stretch>
            <a:fillRect/>
          </a:stretch>
        </p:blipFill>
        <p:spPr>
          <a:xfrm>
            <a:off x="0" y="304800"/>
            <a:ext cx="8991600" cy="5389179"/>
          </a:xfrm>
          <a:noFill/>
        </p:spPr>
      </p:pic>
      <p:pic>
        <p:nvPicPr>
          <p:cNvPr id="3" name="Picture 2">
            <a:extLst>
              <a:ext uri="{FF2B5EF4-FFF2-40B4-BE49-F238E27FC236}">
                <a16:creationId xmlns:a16="http://schemas.microsoft.com/office/drawing/2014/main" id="{E316694E-AF88-46C0-AD2B-4C245FF6A9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2705455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F7FE-7E8E-4150-A4CA-FFE034CAD585}"/>
              </a:ext>
            </a:extLst>
          </p:cNvPr>
          <p:cNvSpPr>
            <a:spLocks noGrp="1"/>
          </p:cNvSpPr>
          <p:nvPr>
            <p:ph type="title"/>
          </p:nvPr>
        </p:nvSpPr>
        <p:spPr/>
        <p:txBody>
          <a:bodyPr/>
          <a:lstStyle/>
          <a:p>
            <a:r>
              <a:rPr lang="en-US" sz="2800" dirty="0">
                <a:solidFill>
                  <a:srgbClr val="002060"/>
                </a:solidFill>
                <a:latin typeface="Gill Sans MT" panose="020B0502020104020203" pitchFamily="34" charset="0"/>
              </a:rPr>
              <a:t>Epidemiology of Adolescents and Youth Health Problems…</a:t>
            </a:r>
            <a:endParaRPr lang="en-US" sz="2800" dirty="0">
              <a:solidFill>
                <a:srgbClr val="002060"/>
              </a:solidFill>
            </a:endParaRPr>
          </a:p>
        </p:txBody>
      </p:sp>
      <p:sp>
        <p:nvSpPr>
          <p:cNvPr id="3" name="Content Placeholder 2">
            <a:extLst>
              <a:ext uri="{FF2B5EF4-FFF2-40B4-BE49-F238E27FC236}">
                <a16:creationId xmlns:a16="http://schemas.microsoft.com/office/drawing/2014/main" id="{7E2F3B03-E31B-492D-B4E8-3DABF1D82526}"/>
              </a:ext>
            </a:extLst>
          </p:cNvPr>
          <p:cNvSpPr>
            <a:spLocks noGrp="1"/>
          </p:cNvSpPr>
          <p:nvPr>
            <p:ph idx="1"/>
          </p:nvPr>
        </p:nvSpPr>
        <p:spPr/>
        <p:txBody>
          <a:bodyPr/>
          <a:lstStyle/>
          <a:p>
            <a:pPr marL="0" indent="0">
              <a:buNone/>
            </a:pPr>
            <a:r>
              <a:rPr lang="en-US" sz="2000" b="1" u="sng" dirty="0">
                <a:latin typeface="Gill Sans MT" panose="020B0502020104020203" pitchFamily="34" charset="0"/>
                <a:cs typeface="Times New Roman" pitchFamily="18" charset="0"/>
              </a:rPr>
              <a:t>SRH problem…</a:t>
            </a:r>
          </a:p>
          <a:p>
            <a:r>
              <a:rPr lang="en-US" sz="2400" b="0" dirty="0">
                <a:solidFill>
                  <a:schemeClr val="tx1"/>
                </a:solidFill>
                <a:latin typeface="Times New Roman" pitchFamily="18" charset="0"/>
                <a:cs typeface="Times New Roman" pitchFamily="18" charset="0"/>
              </a:rPr>
              <a:t>Higher unmet need despite relatively higher CPR( EDHS 2016)</a:t>
            </a:r>
          </a:p>
          <a:p>
            <a:r>
              <a:rPr lang="en-US" sz="2400" b="0" dirty="0">
                <a:solidFill>
                  <a:schemeClr val="tx1"/>
                </a:solidFill>
                <a:latin typeface="Times New Roman" pitchFamily="18" charset="0"/>
                <a:cs typeface="Times New Roman" pitchFamily="18" charset="0"/>
              </a:rPr>
              <a:t>Lower maternity service uptake </a:t>
            </a:r>
          </a:p>
          <a:p>
            <a:r>
              <a:rPr lang="en-US" sz="2400" dirty="0">
                <a:latin typeface="Times New Roman" pitchFamily="18" charset="0"/>
                <a:cs typeface="Times New Roman" pitchFamily="18" charset="0"/>
              </a:rPr>
              <a:t>Higher STIs and new HIV infection among the population group</a:t>
            </a:r>
          </a:p>
          <a:p>
            <a:r>
              <a:rPr lang="en-US" sz="2400" dirty="0">
                <a:latin typeface="Times New Roman" pitchFamily="18" charset="0"/>
                <a:cs typeface="Times New Roman" pitchFamily="18" charset="0"/>
              </a:rPr>
              <a:t>Low level of comprehensive knowledge on HIV </a:t>
            </a:r>
          </a:p>
          <a:p>
            <a:r>
              <a:rPr lang="en-US" sz="2400" dirty="0">
                <a:latin typeface="Times New Roman" pitchFamily="18" charset="0"/>
                <a:cs typeface="Times New Roman" pitchFamily="18" charset="0"/>
              </a:rPr>
              <a:t>Common use of alcohol and substance which contribute to risky behavior</a:t>
            </a:r>
          </a:p>
          <a:p>
            <a:endParaRPr lang="en-GB" sz="2400" b="0" dirty="0">
              <a:solidFill>
                <a:schemeClr val="tx1"/>
              </a:solidFill>
              <a:latin typeface="Times New Roman" pitchFamily="18" charset="0"/>
              <a:cs typeface="Times New Roman" pitchFamily="18" charset="0"/>
            </a:endParaRPr>
          </a:p>
          <a:p>
            <a:pPr>
              <a:buFont typeface="Wingdings" pitchFamily="2" charset="2"/>
              <a:buChar char="v"/>
            </a:pPr>
            <a:endParaRPr lang="en-US" sz="2000" dirty="0"/>
          </a:p>
        </p:txBody>
      </p:sp>
      <p:pic>
        <p:nvPicPr>
          <p:cNvPr id="4" name="Picture 3">
            <a:extLst>
              <a:ext uri="{FF2B5EF4-FFF2-40B4-BE49-F238E27FC236}">
                <a16:creationId xmlns:a16="http://schemas.microsoft.com/office/drawing/2014/main" id="{6621F1AC-2811-45F7-A73F-B32ADAE1EF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309662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latin typeface="Gill Sans MT" panose="020B0502020104020203" pitchFamily="34" charset="0"/>
              </a:rPr>
              <a:t>Epidemiology of Adolescents and Youth Health Problems…</a:t>
            </a:r>
            <a:endParaRPr lang="en-US" dirty="0">
              <a:solidFill>
                <a:srgbClr val="002060"/>
              </a:solidFill>
            </a:endParaRPr>
          </a:p>
        </p:txBody>
      </p:sp>
      <p:sp>
        <p:nvSpPr>
          <p:cNvPr id="3" name="Content Placeholder 2"/>
          <p:cNvSpPr>
            <a:spLocks noGrp="1"/>
          </p:cNvSpPr>
          <p:nvPr>
            <p:ph idx="1"/>
          </p:nvPr>
        </p:nvSpPr>
        <p:spPr/>
        <p:txBody>
          <a:bodyPr/>
          <a:lstStyle/>
          <a:p>
            <a:pPr marL="0" indent="0">
              <a:buNone/>
            </a:pPr>
            <a:r>
              <a:rPr lang="en-US" b="1" dirty="0">
                <a:latin typeface="Gill Sans MT" panose="020B0502020104020203" pitchFamily="34" charset="0"/>
                <a:cs typeface="Times New Roman" pitchFamily="18" charset="0"/>
              </a:rPr>
              <a:t>Non-Communicable Diseases (NCDs)</a:t>
            </a:r>
            <a:endParaRPr lang="en-GB" b="1" dirty="0">
              <a:latin typeface="Gill Sans MT" panose="020B0502020104020203" pitchFamily="34" charset="0"/>
              <a:cs typeface="Times New Roman" pitchFamily="18" charset="0"/>
            </a:endParaRPr>
          </a:p>
          <a:p>
            <a:pPr>
              <a:defRPr/>
            </a:pPr>
            <a:r>
              <a:rPr lang="en-US" dirty="0">
                <a:latin typeface="Gill Sans MT" panose="020B0502020104020203" pitchFamily="34" charset="0"/>
                <a:cs typeface="Times New Roman" pitchFamily="18" charset="0"/>
              </a:rPr>
              <a:t>Emerging epidemic because of the increasing urbanization and the related changes in lifestyle and dietary habits.</a:t>
            </a:r>
          </a:p>
          <a:p>
            <a:pPr>
              <a:defRPr/>
            </a:pPr>
            <a:r>
              <a:rPr lang="en-US" dirty="0">
                <a:latin typeface="Gill Sans MT" panose="020B0502020104020203" pitchFamily="34" charset="0"/>
                <a:cs typeface="Times New Roman" pitchFamily="18" charset="0"/>
              </a:rPr>
              <a:t>In Ethiopia, accounts for 30% of deaths in 2014.</a:t>
            </a:r>
          </a:p>
          <a:p>
            <a:pPr>
              <a:defRPr/>
            </a:pPr>
            <a:r>
              <a:rPr lang="en-US" dirty="0">
                <a:latin typeface="Gill Sans MT" panose="020B0502020104020203" pitchFamily="34" charset="0"/>
                <a:cs typeface="Times New Roman" pitchFamily="18" charset="0"/>
              </a:rPr>
              <a:t>Diabetes mellitus ( 6.5%) and hypertension (19.1% ) are common with a higher proportion among males (22%)</a:t>
            </a:r>
            <a:endParaRPr lang="en-GB" dirty="0">
              <a:latin typeface="Gill Sans MT" panose="020B0502020104020203" pitchFamily="34" charset="0"/>
              <a:cs typeface="Times New Roman" pitchFamily="18" charset="0"/>
            </a:endParaRPr>
          </a:p>
          <a:p>
            <a:endParaRPr lang="en-US" dirty="0"/>
          </a:p>
        </p:txBody>
      </p:sp>
    </p:spTree>
    <p:extLst>
      <p:ext uri="{BB962C8B-B14F-4D97-AF65-F5344CB8AC3E}">
        <p14:creationId xmlns:p14="http://schemas.microsoft.com/office/powerpoint/2010/main" val="66338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4DFD0-9E35-4BF3-BAD9-9784725459C4}"/>
              </a:ext>
            </a:extLst>
          </p:cNvPr>
          <p:cNvSpPr>
            <a:spLocks noGrp="1"/>
          </p:cNvSpPr>
          <p:nvPr>
            <p:ph type="title"/>
          </p:nvPr>
        </p:nvSpPr>
        <p:spPr/>
        <p:txBody>
          <a:bodyPr/>
          <a:lstStyle/>
          <a:p>
            <a:r>
              <a:rPr lang="en-US" sz="2800" dirty="0">
                <a:latin typeface="Gill Sans MT" panose="020B0502020104020203" pitchFamily="34" charset="0"/>
              </a:rPr>
              <a:t>Epidemiology of Adolescents and Youth Health Problems…</a:t>
            </a:r>
            <a:endParaRPr lang="en-US" sz="2800" dirty="0"/>
          </a:p>
        </p:txBody>
      </p:sp>
      <p:sp>
        <p:nvSpPr>
          <p:cNvPr id="3" name="Content Placeholder 2">
            <a:extLst>
              <a:ext uri="{FF2B5EF4-FFF2-40B4-BE49-F238E27FC236}">
                <a16:creationId xmlns:a16="http://schemas.microsoft.com/office/drawing/2014/main" id="{57E28AE3-0EC7-4DCE-AB70-4838F8055F68}"/>
              </a:ext>
            </a:extLst>
          </p:cNvPr>
          <p:cNvSpPr>
            <a:spLocks noGrp="1"/>
          </p:cNvSpPr>
          <p:nvPr>
            <p:ph idx="1"/>
          </p:nvPr>
        </p:nvSpPr>
        <p:spPr>
          <a:xfrm>
            <a:off x="457200" y="1600199"/>
            <a:ext cx="8229600" cy="4795091"/>
          </a:xfrm>
        </p:spPr>
        <p:txBody>
          <a:bodyPr/>
          <a:lstStyle/>
          <a:p>
            <a:pPr marL="0" indent="0" algn="just">
              <a:buNone/>
            </a:pPr>
            <a:r>
              <a:rPr lang="en-US" sz="2400" b="1" dirty="0">
                <a:solidFill>
                  <a:schemeClr val="tx1"/>
                </a:solidFill>
                <a:latin typeface="Gill Sans MT" panose="020B0502020104020203" pitchFamily="34" charset="0"/>
              </a:rPr>
              <a:t>Harmful Traditional Practices (HTPs)</a:t>
            </a:r>
          </a:p>
          <a:p>
            <a:pPr algn="just">
              <a:lnSpc>
                <a:spcPct val="150000"/>
              </a:lnSpc>
            </a:pPr>
            <a:r>
              <a:rPr lang="en-US" sz="2400" b="0" dirty="0">
                <a:solidFill>
                  <a:schemeClr val="tx1"/>
                </a:solidFill>
                <a:latin typeface="Times New Roman" pitchFamily="18" charset="0"/>
                <a:cs typeface="Times New Roman" pitchFamily="18" charset="0"/>
              </a:rPr>
              <a:t>HTPs that are classified as serious crimes by the Ethiopian Law</a:t>
            </a:r>
          </a:p>
          <a:p>
            <a:pPr algn="just">
              <a:lnSpc>
                <a:spcPct val="150000"/>
              </a:lnSpc>
            </a:pPr>
            <a:r>
              <a:rPr lang="en-US" sz="2400" b="0" dirty="0">
                <a:solidFill>
                  <a:schemeClr val="tx1"/>
                </a:solidFill>
                <a:latin typeface="Times New Roman" pitchFamily="18" charset="0"/>
                <a:cs typeface="Times New Roman" pitchFamily="18" charset="0"/>
              </a:rPr>
              <a:t>Female genital mutilation/cutting (FGM/C), child marriage, forceful abduction and domestic violence are the most widely practiced</a:t>
            </a:r>
          </a:p>
          <a:p>
            <a:pPr algn="just">
              <a:lnSpc>
                <a:spcPct val="150000"/>
              </a:lnSpc>
            </a:pPr>
            <a:r>
              <a:rPr lang="en-US" sz="2400" b="0" dirty="0">
                <a:solidFill>
                  <a:schemeClr val="tx1"/>
                </a:solidFill>
                <a:latin typeface="Times New Roman" pitchFamily="18" charset="0"/>
                <a:cs typeface="Times New Roman" pitchFamily="18" charset="0"/>
              </a:rPr>
              <a:t>FGM prevalence is declining but universally practiced in some regions (Somali and Afar) </a:t>
            </a:r>
            <a:r>
              <a:rPr lang="en-US" sz="2400" b="0" dirty="0" err="1">
                <a:solidFill>
                  <a:schemeClr val="tx1"/>
                </a:solidFill>
                <a:latin typeface="Times New Roman" pitchFamily="18" charset="0"/>
                <a:cs typeface="Times New Roman" pitchFamily="18" charset="0"/>
              </a:rPr>
              <a:t>i</a:t>
            </a:r>
            <a:r>
              <a:rPr lang="en-US" sz="2400" b="0" dirty="0">
                <a:solidFill>
                  <a:schemeClr val="tx1"/>
                </a:solidFill>
                <a:latin typeface="Times New Roman" pitchFamily="18" charset="0"/>
                <a:cs typeface="Times New Roman" pitchFamily="18" charset="0"/>
              </a:rPr>
              <a:t>(91%-99%)</a:t>
            </a:r>
          </a:p>
          <a:p>
            <a:endParaRPr lang="en-US" sz="2400" dirty="0">
              <a:latin typeface="Gill Sans MT" panose="020B0502020104020203" pitchFamily="34" charset="0"/>
            </a:endParaRPr>
          </a:p>
        </p:txBody>
      </p:sp>
      <p:pic>
        <p:nvPicPr>
          <p:cNvPr id="4" name="Picture 3">
            <a:extLst>
              <a:ext uri="{FF2B5EF4-FFF2-40B4-BE49-F238E27FC236}">
                <a16:creationId xmlns:a16="http://schemas.microsoft.com/office/drawing/2014/main" id="{BABDE432-84CA-4635-B544-D4E6A78626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3150730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C7060-DA83-4D95-B562-C7B44E837A34}"/>
              </a:ext>
            </a:extLst>
          </p:cNvPr>
          <p:cNvSpPr>
            <a:spLocks noGrp="1"/>
          </p:cNvSpPr>
          <p:nvPr>
            <p:ph type="title"/>
          </p:nvPr>
        </p:nvSpPr>
        <p:spPr/>
        <p:txBody>
          <a:bodyPr/>
          <a:lstStyle/>
          <a:p>
            <a:r>
              <a:rPr lang="en-US" sz="2800" dirty="0">
                <a:solidFill>
                  <a:srgbClr val="002060"/>
                </a:solidFill>
                <a:latin typeface="Gill Sans MT" panose="020B0502020104020203" pitchFamily="34" charset="0"/>
              </a:rPr>
              <a:t>Trends in HTPs</a:t>
            </a:r>
          </a:p>
        </p:txBody>
      </p:sp>
      <p:pic>
        <p:nvPicPr>
          <p:cNvPr id="4" name="Content Placeholder 3">
            <a:extLst>
              <a:ext uri="{FF2B5EF4-FFF2-40B4-BE49-F238E27FC236}">
                <a16:creationId xmlns:a16="http://schemas.microsoft.com/office/drawing/2014/main" id="{B78E2286-2EE7-46CB-8741-9215E2A37498}"/>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669550"/>
            <a:ext cx="8229600" cy="4121650"/>
          </a:xfrm>
        </p:spPr>
      </p:pic>
      <p:pic>
        <p:nvPicPr>
          <p:cNvPr id="5" name="Picture 4">
            <a:extLst>
              <a:ext uri="{FF2B5EF4-FFF2-40B4-BE49-F238E27FC236}">
                <a16:creationId xmlns:a16="http://schemas.microsoft.com/office/drawing/2014/main" id="{FC131178-E4A8-4023-BEFC-55555BAEC1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1429853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2BCB-9A75-4F06-A37D-FD3912A5A41A}"/>
              </a:ext>
            </a:extLst>
          </p:cNvPr>
          <p:cNvSpPr>
            <a:spLocks noGrp="1"/>
          </p:cNvSpPr>
          <p:nvPr>
            <p:ph type="title"/>
          </p:nvPr>
        </p:nvSpPr>
        <p:spPr/>
        <p:txBody>
          <a:bodyPr/>
          <a:lstStyle/>
          <a:p>
            <a:r>
              <a:rPr lang="en-US" altLang="en-US" sz="2800" dirty="0">
                <a:latin typeface="Gill Sans MT" panose="020B0502020104020203" pitchFamily="34" charset="0"/>
              </a:rPr>
              <a:t>Epidemiology of Priority Health problems </a:t>
            </a:r>
            <a:endParaRPr lang="en-US" sz="2800" dirty="0">
              <a:latin typeface="Gill Sans MT" panose="020B0502020104020203" pitchFamily="34" charset="0"/>
            </a:endParaRPr>
          </a:p>
        </p:txBody>
      </p:sp>
      <p:sp>
        <p:nvSpPr>
          <p:cNvPr id="4" name="Content Placeholder 5">
            <a:extLst>
              <a:ext uri="{FF2B5EF4-FFF2-40B4-BE49-F238E27FC236}">
                <a16:creationId xmlns:a16="http://schemas.microsoft.com/office/drawing/2014/main" id="{A877B383-D8ED-4236-A6A6-5B4CA233B1DE}"/>
              </a:ext>
            </a:extLst>
          </p:cNvPr>
          <p:cNvSpPr>
            <a:spLocks noGrp="1"/>
          </p:cNvSpPr>
          <p:nvPr>
            <p:ph idx="1"/>
          </p:nvPr>
        </p:nvSpPr>
        <p:spPr>
          <a:xfrm>
            <a:off x="457200" y="1600200"/>
            <a:ext cx="3886200" cy="4495800"/>
          </a:xfrm>
        </p:spPr>
        <p:txBody>
          <a:bodyPr rtlCol="0">
            <a:noAutofit/>
          </a:bodyPr>
          <a:lstStyle/>
          <a:p>
            <a:pPr eaLnBrk="1" fontAlgn="auto" hangingPunct="1">
              <a:lnSpc>
                <a:spcPct val="150000"/>
              </a:lnSpc>
              <a:spcAft>
                <a:spcPts val="0"/>
              </a:spcAft>
              <a:buFont typeface="Arial" panose="020B0604020202020204" pitchFamily="34" charset="0"/>
              <a:buChar char="•"/>
              <a:defRPr/>
            </a:pPr>
            <a:r>
              <a:rPr lang="en-US" sz="2000" dirty="0">
                <a:solidFill>
                  <a:schemeClr val="tx1">
                    <a:lumMod val="75000"/>
                  </a:schemeClr>
                </a:solidFill>
                <a:latin typeface="Gill Sans MT" panose="020B0502020104020203" pitchFamily="34" charset="0"/>
              </a:rPr>
              <a:t>Globally, the most common causes of morbidity among adolescents and youth are:</a:t>
            </a:r>
          </a:p>
          <a:p>
            <a:pPr lvl="1" eaLnBrk="1" fontAlgn="auto" hangingPunct="1">
              <a:lnSpc>
                <a:spcPct val="150000"/>
              </a:lnSpc>
              <a:spcAft>
                <a:spcPts val="0"/>
              </a:spcAft>
              <a:buFont typeface="Arial" panose="020B0604020202020204" pitchFamily="34" charset="0"/>
              <a:buChar char="•"/>
              <a:defRPr/>
            </a:pPr>
            <a:r>
              <a:rPr lang="en-US" sz="2000" dirty="0">
                <a:solidFill>
                  <a:schemeClr val="tx1">
                    <a:lumMod val="75000"/>
                  </a:schemeClr>
                </a:solidFill>
                <a:latin typeface="Gill Sans MT" panose="020B0502020104020203" pitchFamily="34" charset="0"/>
              </a:rPr>
              <a:t>Injuries/violence; </a:t>
            </a:r>
          </a:p>
          <a:p>
            <a:pPr lvl="1" eaLnBrk="1" fontAlgn="auto" hangingPunct="1">
              <a:lnSpc>
                <a:spcPct val="150000"/>
              </a:lnSpc>
              <a:spcAft>
                <a:spcPts val="0"/>
              </a:spcAft>
              <a:buFont typeface="Arial" panose="020B0604020202020204" pitchFamily="34" charset="0"/>
              <a:buChar char="•"/>
              <a:defRPr/>
            </a:pPr>
            <a:r>
              <a:rPr lang="en-US" sz="2000" dirty="0">
                <a:solidFill>
                  <a:schemeClr val="tx1">
                    <a:lumMod val="75000"/>
                  </a:schemeClr>
                </a:solidFill>
                <a:latin typeface="Gill Sans MT" panose="020B0502020104020203" pitchFamily="34" charset="0"/>
              </a:rPr>
              <a:t>sexual and reproductive health Problems; </a:t>
            </a:r>
          </a:p>
          <a:p>
            <a:pPr lvl="1" eaLnBrk="1" fontAlgn="auto" hangingPunct="1">
              <a:lnSpc>
                <a:spcPct val="150000"/>
              </a:lnSpc>
              <a:spcAft>
                <a:spcPts val="0"/>
              </a:spcAft>
              <a:buFont typeface="Arial" panose="020B0604020202020204" pitchFamily="34" charset="0"/>
              <a:buChar char="•"/>
              <a:defRPr/>
            </a:pPr>
            <a:r>
              <a:rPr lang="en-US" sz="2000" dirty="0">
                <a:solidFill>
                  <a:schemeClr val="tx1">
                    <a:lumMod val="75000"/>
                  </a:schemeClr>
                </a:solidFill>
                <a:latin typeface="Gill Sans MT" panose="020B0502020104020203" pitchFamily="34" charset="0"/>
              </a:rPr>
              <a:t>substance use; </a:t>
            </a:r>
          </a:p>
          <a:p>
            <a:pPr lvl="1" eaLnBrk="1" fontAlgn="auto" hangingPunct="1">
              <a:lnSpc>
                <a:spcPct val="150000"/>
              </a:lnSpc>
              <a:spcAft>
                <a:spcPts val="0"/>
              </a:spcAft>
              <a:buFont typeface="Arial" panose="020B0604020202020204" pitchFamily="34" charset="0"/>
              <a:buChar char="•"/>
              <a:defRPr/>
            </a:pPr>
            <a:r>
              <a:rPr lang="en-US" sz="2000" dirty="0">
                <a:solidFill>
                  <a:schemeClr val="tx1">
                    <a:lumMod val="75000"/>
                  </a:schemeClr>
                </a:solidFill>
                <a:latin typeface="Gill Sans MT" panose="020B0502020104020203" pitchFamily="34" charset="0"/>
              </a:rPr>
              <a:t>mental health problems; </a:t>
            </a:r>
          </a:p>
          <a:p>
            <a:pPr lvl="1" eaLnBrk="1" fontAlgn="auto" hangingPunct="1">
              <a:lnSpc>
                <a:spcPct val="150000"/>
              </a:lnSpc>
              <a:spcAft>
                <a:spcPts val="0"/>
              </a:spcAft>
              <a:buFont typeface="Arial" panose="020B0604020202020204" pitchFamily="34" charset="0"/>
              <a:buChar char="•"/>
              <a:defRPr/>
            </a:pPr>
            <a:r>
              <a:rPr lang="en-US" sz="2000" dirty="0">
                <a:solidFill>
                  <a:schemeClr val="tx1">
                    <a:lumMod val="75000"/>
                  </a:schemeClr>
                </a:solidFill>
                <a:latin typeface="Gill Sans MT" panose="020B0502020104020203" pitchFamily="34" charset="0"/>
              </a:rPr>
              <a:t>non-communicable diseases. </a:t>
            </a:r>
          </a:p>
          <a:p>
            <a:pPr marL="0" indent="0" eaLnBrk="1" fontAlgn="auto" hangingPunct="1">
              <a:spcAft>
                <a:spcPts val="0"/>
              </a:spcAft>
              <a:buFont typeface="Arial" panose="020B0604020202020204" pitchFamily="34" charset="0"/>
              <a:buNone/>
              <a:defRPr/>
            </a:pPr>
            <a:endParaRPr lang="en-US" sz="2000" dirty="0">
              <a:solidFill>
                <a:schemeClr val="tx2">
                  <a:lumMod val="50000"/>
                </a:schemeClr>
              </a:solidFill>
            </a:endParaRPr>
          </a:p>
        </p:txBody>
      </p:sp>
      <p:pic>
        <p:nvPicPr>
          <p:cNvPr id="5" name="Picture 2">
            <a:extLst>
              <a:ext uri="{FF2B5EF4-FFF2-40B4-BE49-F238E27FC236}">
                <a16:creationId xmlns:a16="http://schemas.microsoft.com/office/drawing/2014/main" id="{B18857D7-2B47-48B0-BECA-5E23D2D675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4267200" y="1529694"/>
            <a:ext cx="4876800" cy="4642505"/>
          </a:xfrm>
          <a:prstGeom prst="rect">
            <a:avLst/>
          </a:prstGeom>
        </p:spPr>
      </p:pic>
      <p:pic>
        <p:nvPicPr>
          <p:cNvPr id="6" name="Picture 5">
            <a:extLst>
              <a:ext uri="{FF2B5EF4-FFF2-40B4-BE49-F238E27FC236}">
                <a16:creationId xmlns:a16="http://schemas.microsoft.com/office/drawing/2014/main" id="{9A5820E6-7EB8-4277-8329-741A66917F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2329974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38599-047B-FC90-CB5B-88B756679493}"/>
              </a:ext>
            </a:extLst>
          </p:cNvPr>
          <p:cNvSpPr>
            <a:spLocks noGrp="1"/>
          </p:cNvSpPr>
          <p:nvPr>
            <p:ph type="title"/>
          </p:nvPr>
        </p:nvSpPr>
        <p:spPr>
          <a:xfrm>
            <a:off x="701841" y="1524000"/>
            <a:ext cx="7772400" cy="1362075"/>
          </a:xfrm>
        </p:spPr>
        <p:txBody>
          <a:bodyPr/>
          <a:lstStyle/>
          <a:p>
            <a:pPr marL="0" marR="0">
              <a:lnSpc>
                <a:spcPct val="115000"/>
              </a:lnSpc>
              <a:spcBef>
                <a:spcPts val="0"/>
              </a:spcBef>
              <a:spcAft>
                <a:spcPts val="1000"/>
              </a:spcAft>
            </a:pPr>
            <a:br>
              <a:rPr lang="en-US" sz="1800" dirty="0">
                <a:effectLst/>
                <a:latin typeface="Calibri" panose="020F0502020204030204" pitchFamily="34" charset="0"/>
                <a:ea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Why do you think it is important to invest in adolescent and youth health?</a:t>
            </a:r>
            <a:br>
              <a:rPr lang="en-US"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5" name="TextBox 4">
            <a:extLst>
              <a:ext uri="{FF2B5EF4-FFF2-40B4-BE49-F238E27FC236}">
                <a16:creationId xmlns:a16="http://schemas.microsoft.com/office/drawing/2014/main" id="{2873C9C8-3306-B9B7-9895-817341120CBE}"/>
              </a:ext>
            </a:extLst>
          </p:cNvPr>
          <p:cNvSpPr txBox="1"/>
          <p:nvPr/>
        </p:nvSpPr>
        <p:spPr>
          <a:xfrm>
            <a:off x="893928" y="457200"/>
            <a:ext cx="6781800" cy="954107"/>
          </a:xfrm>
          <a:prstGeom prst="rect">
            <a:avLst/>
          </a:prstGeom>
          <a:noFill/>
        </p:spPr>
        <p:txBody>
          <a:bodyPr wrap="square">
            <a:spAutoFit/>
          </a:bodyPr>
          <a:lstStyle/>
          <a:p>
            <a:pPr algn="ctr"/>
            <a:r>
              <a:rPr lang="en-US" sz="2800" b="1" dirty="0"/>
              <a:t>Brainstorming   (5’ )</a:t>
            </a:r>
          </a:p>
          <a:p>
            <a:pPr algn="ctr"/>
            <a:endParaRPr lang="en-US" sz="2800" b="1" dirty="0">
              <a:solidFill>
                <a:schemeClr val="bg1"/>
              </a:solidFill>
            </a:endParaRPr>
          </a:p>
        </p:txBody>
      </p:sp>
      <p:pic>
        <p:nvPicPr>
          <p:cNvPr id="6" name="Picture 5">
            <a:extLst>
              <a:ext uri="{FF2B5EF4-FFF2-40B4-BE49-F238E27FC236}">
                <a16:creationId xmlns:a16="http://schemas.microsoft.com/office/drawing/2014/main" id="{B355EF6D-CC0A-44F4-A399-2B98A714AA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220" y="6096000"/>
            <a:ext cx="1052186" cy="925417"/>
          </a:xfrm>
          <a:prstGeom prst="rect">
            <a:avLst/>
          </a:prstGeom>
        </p:spPr>
      </p:pic>
    </p:spTree>
    <p:extLst>
      <p:ext uri="{BB962C8B-B14F-4D97-AF65-F5344CB8AC3E}">
        <p14:creationId xmlns:p14="http://schemas.microsoft.com/office/powerpoint/2010/main" val="944517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8D1BE-C75B-4AE5-B973-1CE4F2682E36}"/>
              </a:ext>
            </a:extLst>
          </p:cNvPr>
          <p:cNvSpPr>
            <a:spLocks noGrp="1"/>
          </p:cNvSpPr>
          <p:nvPr>
            <p:ph type="title"/>
          </p:nvPr>
        </p:nvSpPr>
        <p:spPr/>
        <p:txBody>
          <a:bodyPr/>
          <a:lstStyle/>
          <a:p>
            <a:r>
              <a:rPr lang="en-US" sz="2800" b="1" dirty="0">
                <a:solidFill>
                  <a:srgbClr val="002060"/>
                </a:solidFill>
                <a:latin typeface="Gill Sans MT" panose="020B0502020104020203" pitchFamily="34" charset="0"/>
                <a:cs typeface="Times New Roman" pitchFamily="18" charset="0"/>
              </a:rPr>
              <a:t>Why invest on adolescent and youth Health</a:t>
            </a:r>
            <a:endParaRPr lang="en-US" sz="2800" dirty="0">
              <a:solidFill>
                <a:srgbClr val="002060"/>
              </a:solidFill>
              <a:latin typeface="Gill Sans MT" panose="020B0502020104020203" pitchFamily="34" charset="0"/>
            </a:endParaRPr>
          </a:p>
        </p:txBody>
      </p:sp>
      <p:sp>
        <p:nvSpPr>
          <p:cNvPr id="3" name="Content Placeholder 2">
            <a:extLst>
              <a:ext uri="{FF2B5EF4-FFF2-40B4-BE49-F238E27FC236}">
                <a16:creationId xmlns:a16="http://schemas.microsoft.com/office/drawing/2014/main" id="{F16BB813-C665-4C72-9BE7-2DFDB9865C6F}"/>
              </a:ext>
            </a:extLst>
          </p:cNvPr>
          <p:cNvSpPr>
            <a:spLocks noGrp="1"/>
          </p:cNvSpPr>
          <p:nvPr>
            <p:ph idx="1"/>
          </p:nvPr>
        </p:nvSpPr>
        <p:spPr>
          <a:xfrm>
            <a:off x="457200" y="1447799"/>
            <a:ext cx="8229600" cy="4947491"/>
          </a:xfrm>
        </p:spPr>
        <p:txBody>
          <a:bodyPr/>
          <a:lstStyle/>
          <a:p>
            <a:pPr>
              <a:defRPr/>
            </a:pPr>
            <a:r>
              <a:rPr lang="en-US" sz="2400" dirty="0">
                <a:solidFill>
                  <a:schemeClr val="tx1">
                    <a:lumMod val="75000"/>
                  </a:schemeClr>
                </a:solidFill>
                <a:latin typeface="Gill Sans MT" panose="020B0502020104020203" pitchFamily="34" charset="0"/>
                <a:cs typeface="Times New Roman" pitchFamily="18" charset="0"/>
              </a:rPr>
              <a:t>Five reasons why investing in adolescent health is indispensable for 2030 SGDs.</a:t>
            </a:r>
          </a:p>
          <a:p>
            <a:pPr marL="0" indent="0">
              <a:buNone/>
              <a:defRPr/>
            </a:pPr>
            <a:r>
              <a:rPr lang="en-US" sz="2400" b="1" dirty="0">
                <a:solidFill>
                  <a:schemeClr val="tx1">
                    <a:lumMod val="75000"/>
                  </a:schemeClr>
                </a:solidFill>
                <a:latin typeface="Gill Sans MT" panose="020B0502020104020203" pitchFamily="34" charset="0"/>
                <a:cs typeface="Times New Roman" pitchFamily="18" charset="0"/>
              </a:rPr>
              <a:t>1. Adolescents have  fundamental right to health </a:t>
            </a:r>
          </a:p>
          <a:p>
            <a:pPr marL="400050" lvl="1" indent="0">
              <a:buNone/>
              <a:defRPr/>
            </a:pPr>
            <a:r>
              <a:rPr lang="en-US" sz="2000" dirty="0"/>
              <a:t>Adolescents, like all people, have fundamental rights to life, development, the highest achievable standards of health and access to health services</a:t>
            </a:r>
            <a:r>
              <a:rPr lang="en-US" sz="1800" dirty="0"/>
              <a:t>.</a:t>
            </a:r>
            <a:endParaRPr lang="en-US" sz="1800" dirty="0">
              <a:solidFill>
                <a:schemeClr val="tx1">
                  <a:lumMod val="75000"/>
                </a:schemeClr>
              </a:solidFill>
              <a:latin typeface="Gill Sans MT" panose="020B0502020104020203" pitchFamily="34" charset="0"/>
              <a:cs typeface="Times New Roman" pitchFamily="18" charset="0"/>
            </a:endParaRPr>
          </a:p>
          <a:p>
            <a:pPr marL="0" indent="0">
              <a:buNone/>
            </a:pPr>
            <a:endParaRPr lang="en-US" dirty="0"/>
          </a:p>
        </p:txBody>
      </p:sp>
      <p:pic>
        <p:nvPicPr>
          <p:cNvPr id="4" name="Picture 3">
            <a:extLst>
              <a:ext uri="{FF2B5EF4-FFF2-40B4-BE49-F238E27FC236}">
                <a16:creationId xmlns:a16="http://schemas.microsoft.com/office/drawing/2014/main" id="{1E3F6BC9-F5D0-4E2B-B37C-F6BDB686B8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630545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latin typeface="Gill Sans MT" panose="020B0502020104020203" pitchFamily="34" charset="0"/>
              </a:rPr>
              <a:t>Why invest on adolescent and youth Health…</a:t>
            </a:r>
            <a:endParaRPr lang="en-US" dirty="0">
              <a:solidFill>
                <a:srgbClr val="002060"/>
              </a:solidFill>
            </a:endParaRPr>
          </a:p>
        </p:txBody>
      </p:sp>
      <p:sp>
        <p:nvSpPr>
          <p:cNvPr id="3" name="Content Placeholder 2"/>
          <p:cNvSpPr>
            <a:spLocks noGrp="1"/>
          </p:cNvSpPr>
          <p:nvPr>
            <p:ph idx="1"/>
          </p:nvPr>
        </p:nvSpPr>
        <p:spPr/>
        <p:txBody>
          <a:bodyPr/>
          <a:lstStyle/>
          <a:p>
            <a:pPr marL="0" indent="0">
              <a:buNone/>
              <a:defRPr/>
            </a:pPr>
            <a:r>
              <a:rPr lang="en-US" sz="2400" b="1" dirty="0">
                <a:solidFill>
                  <a:schemeClr val="tx1">
                    <a:lumMod val="75000"/>
                  </a:schemeClr>
                </a:solidFill>
                <a:latin typeface="Gill Sans MT" panose="020B0502020104020203" pitchFamily="34" charset="0"/>
                <a:cs typeface="Times New Roman" pitchFamily="18" charset="0"/>
              </a:rPr>
              <a:t>2. Investments in adolescent health bring a triple dividend of health benefits</a:t>
            </a:r>
          </a:p>
          <a:p>
            <a:pPr lvl="1" indent="-342900">
              <a:defRPr/>
            </a:pPr>
            <a:r>
              <a:rPr lang="en-US" sz="2000" b="1" dirty="0">
                <a:solidFill>
                  <a:schemeClr val="tx1">
                    <a:lumMod val="75000"/>
                  </a:schemeClr>
                </a:solidFill>
                <a:latin typeface="Gill Sans MT" panose="020B0502020104020203" pitchFamily="34" charset="0"/>
                <a:cs typeface="Times New Roman" pitchFamily="18" charset="0"/>
              </a:rPr>
              <a:t>For adolescents now</a:t>
            </a:r>
            <a:r>
              <a:rPr lang="en-US" sz="2000" dirty="0">
                <a:solidFill>
                  <a:schemeClr val="tx1">
                    <a:lumMod val="75000"/>
                  </a:schemeClr>
                </a:solidFill>
                <a:latin typeface="Gill Sans MT" panose="020B0502020104020203" pitchFamily="34" charset="0"/>
                <a:cs typeface="Times New Roman" pitchFamily="18" charset="0"/>
              </a:rPr>
              <a:t>: promotion of positive behaviors</a:t>
            </a:r>
          </a:p>
          <a:p>
            <a:pPr lvl="1" indent="-342900">
              <a:defRPr/>
            </a:pPr>
            <a:r>
              <a:rPr lang="en-US" sz="2000" b="1" dirty="0">
                <a:solidFill>
                  <a:schemeClr val="tx1">
                    <a:lumMod val="75000"/>
                  </a:schemeClr>
                </a:solidFill>
                <a:latin typeface="Gill Sans MT" panose="020B0502020104020203" pitchFamily="34" charset="0"/>
                <a:cs typeface="Times New Roman" pitchFamily="18" charset="0"/>
              </a:rPr>
              <a:t>For adolescents’ future lives </a:t>
            </a:r>
            <a:r>
              <a:rPr lang="en-US" sz="2000" dirty="0">
                <a:solidFill>
                  <a:schemeClr val="tx1">
                    <a:lumMod val="75000"/>
                  </a:schemeClr>
                </a:solidFill>
                <a:latin typeface="Gill Sans MT" panose="020B0502020104020203" pitchFamily="34" charset="0"/>
                <a:cs typeface="Times New Roman" pitchFamily="18" charset="0"/>
              </a:rPr>
              <a:t>– to help set a pattern of healthy lifestyles </a:t>
            </a:r>
          </a:p>
          <a:p>
            <a:pPr lvl="1" indent="-342900">
              <a:defRPr/>
            </a:pPr>
            <a:r>
              <a:rPr lang="en-US" sz="2000" b="1" dirty="0">
                <a:solidFill>
                  <a:schemeClr val="tx1">
                    <a:lumMod val="75000"/>
                  </a:schemeClr>
                </a:solidFill>
                <a:latin typeface="Gill Sans MT" panose="020B0502020104020203" pitchFamily="34" charset="0"/>
                <a:cs typeface="Times New Roman" pitchFamily="18" charset="0"/>
              </a:rPr>
              <a:t>For the next generation </a:t>
            </a:r>
            <a:r>
              <a:rPr lang="en-US" sz="2000" dirty="0">
                <a:solidFill>
                  <a:schemeClr val="tx1">
                    <a:lumMod val="75000"/>
                  </a:schemeClr>
                </a:solidFill>
                <a:latin typeface="Gill Sans MT" panose="020B0502020104020203" pitchFamily="34" charset="0"/>
                <a:cs typeface="Times New Roman" pitchFamily="18" charset="0"/>
              </a:rPr>
              <a:t>–promoting emotional well-being and healthy practices in adolescence </a:t>
            </a:r>
          </a:p>
          <a:p>
            <a:endParaRPr lang="en-US" dirty="0"/>
          </a:p>
        </p:txBody>
      </p:sp>
    </p:spTree>
    <p:extLst>
      <p:ext uri="{BB962C8B-B14F-4D97-AF65-F5344CB8AC3E}">
        <p14:creationId xmlns:p14="http://schemas.microsoft.com/office/powerpoint/2010/main" val="1768431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latin typeface="Gill Sans MT" panose="020B0502020104020203" pitchFamily="34" charset="0"/>
              </a:rPr>
              <a:t>Why invest on adolescent and youth Health…</a:t>
            </a:r>
            <a:endParaRPr lang="en-US" dirty="0">
              <a:solidFill>
                <a:srgbClr val="002060"/>
              </a:solidFill>
            </a:endParaRPr>
          </a:p>
        </p:txBody>
      </p:sp>
      <p:sp>
        <p:nvSpPr>
          <p:cNvPr id="3" name="Content Placeholder 2"/>
          <p:cNvSpPr>
            <a:spLocks noGrp="1"/>
          </p:cNvSpPr>
          <p:nvPr>
            <p:ph idx="1"/>
          </p:nvPr>
        </p:nvSpPr>
        <p:spPr>
          <a:xfrm>
            <a:off x="457200" y="1600200"/>
            <a:ext cx="8229600" cy="4800600"/>
          </a:xfrm>
        </p:spPr>
        <p:txBody>
          <a:bodyPr/>
          <a:lstStyle/>
          <a:p>
            <a:pPr marL="0" indent="0">
              <a:buNone/>
              <a:defRPr/>
            </a:pPr>
            <a:r>
              <a:rPr lang="en-US" sz="2400" b="1" dirty="0">
                <a:solidFill>
                  <a:schemeClr val="tx1">
                    <a:lumMod val="75000"/>
                  </a:schemeClr>
                </a:solidFill>
                <a:latin typeface="Gill Sans MT" panose="020B0502020104020203" pitchFamily="34" charset="0"/>
                <a:cs typeface="Times New Roman" pitchFamily="18" charset="0"/>
              </a:rPr>
              <a:t>4.Investments in adolescent health reduce present and future health costs and enhance social capital</a:t>
            </a:r>
          </a:p>
          <a:p>
            <a:pPr>
              <a:defRPr/>
            </a:pPr>
            <a:r>
              <a:rPr lang="en-US" sz="2400" dirty="0">
                <a:solidFill>
                  <a:schemeClr val="tx1">
                    <a:lumMod val="75000"/>
                  </a:schemeClr>
                </a:solidFill>
                <a:latin typeface="Gill Sans MT" panose="020B0502020104020203" pitchFamily="34" charset="0"/>
                <a:cs typeface="Times New Roman" pitchFamily="18" charset="0"/>
              </a:rPr>
              <a:t>Investment in adolescent health will build on earlier gains in young child health, and will sustain those investments</a:t>
            </a:r>
          </a:p>
          <a:p>
            <a:pPr marL="0" indent="0">
              <a:buNone/>
              <a:defRPr/>
            </a:pPr>
            <a:endParaRPr lang="en-US" sz="2400" dirty="0">
              <a:solidFill>
                <a:schemeClr val="tx1">
                  <a:lumMod val="75000"/>
                </a:schemeClr>
              </a:solidFill>
              <a:latin typeface="Gill Sans MT" panose="020B0502020104020203" pitchFamily="34" charset="0"/>
              <a:cs typeface="Times New Roman" pitchFamily="18" charset="0"/>
            </a:endParaRPr>
          </a:p>
          <a:p>
            <a:pPr marL="0" indent="0">
              <a:buNone/>
              <a:defRPr/>
            </a:pPr>
            <a:r>
              <a:rPr lang="en-GB" sz="2400" b="1" dirty="0">
                <a:solidFill>
                  <a:schemeClr val="tx1">
                    <a:lumMod val="75000"/>
                  </a:schemeClr>
                </a:solidFill>
                <a:latin typeface="Gill Sans MT" panose="020B0502020104020203" pitchFamily="34" charset="0"/>
                <a:cs typeface="Times New Roman" pitchFamily="18" charset="0"/>
              </a:rPr>
              <a:t>5.Adolescents are not simply old children or young adults; they have particular needs</a:t>
            </a:r>
          </a:p>
          <a:p>
            <a:pPr>
              <a:defRPr/>
            </a:pPr>
            <a:r>
              <a:rPr lang="en-US" sz="2400" dirty="0">
                <a:solidFill>
                  <a:schemeClr val="tx1">
                    <a:lumMod val="75000"/>
                  </a:schemeClr>
                </a:solidFill>
                <a:latin typeface="Gill Sans MT" panose="020B0502020104020203" pitchFamily="34" charset="0"/>
                <a:cs typeface="Times New Roman" pitchFamily="18" charset="0"/>
              </a:rPr>
              <a:t>The ranges of determinants that influence human health take particular forms and have unique impacts in adolescence</a:t>
            </a:r>
            <a:endParaRPr lang="en-GB" sz="2400" dirty="0">
              <a:solidFill>
                <a:schemeClr val="tx1">
                  <a:lumMod val="75000"/>
                </a:schemeClr>
              </a:solidFill>
              <a:latin typeface="Gill Sans MT" panose="020B0502020104020203" pitchFamily="34" charset="0"/>
              <a:cs typeface="Times New Roman" pitchFamily="18" charset="0"/>
            </a:endParaRPr>
          </a:p>
          <a:p>
            <a:endParaRPr lang="en-US" dirty="0"/>
          </a:p>
        </p:txBody>
      </p:sp>
    </p:spTree>
    <p:extLst>
      <p:ext uri="{BB962C8B-B14F-4D97-AF65-F5344CB8AC3E}">
        <p14:creationId xmlns:p14="http://schemas.microsoft.com/office/powerpoint/2010/main" val="1582636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latin typeface="Gill Sans MT" panose="020B0502020104020203" pitchFamily="34" charset="0"/>
              </a:rPr>
              <a:t>Why invest on adolescent and youth Health</a:t>
            </a:r>
            <a:endParaRPr lang="en-US" dirty="0">
              <a:solidFill>
                <a:srgbClr val="002060"/>
              </a:solidFill>
            </a:endParaRPr>
          </a:p>
        </p:txBody>
      </p:sp>
      <p:sp>
        <p:nvSpPr>
          <p:cNvPr id="3" name="Content Placeholder 2"/>
          <p:cNvSpPr>
            <a:spLocks noGrp="1"/>
          </p:cNvSpPr>
          <p:nvPr>
            <p:ph idx="1"/>
          </p:nvPr>
        </p:nvSpPr>
        <p:spPr/>
        <p:txBody>
          <a:bodyPr/>
          <a:lstStyle/>
          <a:p>
            <a:pPr marL="0" indent="0">
              <a:buNone/>
            </a:pPr>
            <a:r>
              <a:rPr lang="en-GB" b="1" dirty="0">
                <a:solidFill>
                  <a:schemeClr val="tx1">
                    <a:lumMod val="75000"/>
                  </a:schemeClr>
                </a:solidFill>
                <a:latin typeface="Gill Sans MT" panose="020B0502020104020203" pitchFamily="34" charset="0"/>
                <a:cs typeface="Times New Roman" pitchFamily="18" charset="0"/>
              </a:rPr>
              <a:t>6. Adolescents bear a substantial proportion of the global disease and injury burden</a:t>
            </a:r>
            <a:br>
              <a:rPr lang="en-GB" sz="2400" b="1" dirty="0">
                <a:latin typeface="Gill Sans MT" panose="020B0502020104020203" pitchFamily="34" charset="0"/>
                <a:cs typeface="Times New Roman" pitchFamily="18" charset="0"/>
              </a:rPr>
            </a:br>
            <a:endParaRPr lang="en-GB" sz="2400" b="1" dirty="0">
              <a:latin typeface="Gill Sans MT" panose="020B0502020104020203" pitchFamily="34" charset="0"/>
              <a:cs typeface="Times New Roman" pitchFamily="18" charset="0"/>
            </a:endParaRPr>
          </a:p>
          <a:p>
            <a:r>
              <a:rPr lang="en-US" sz="2400" dirty="0"/>
              <a:t>In 2000, 43% of all deaths among those aged 5 to 24 years in the world</a:t>
            </a:r>
          </a:p>
        </p:txBody>
      </p:sp>
    </p:spTree>
    <p:extLst>
      <p:ext uri="{BB962C8B-B14F-4D97-AF65-F5344CB8AC3E}">
        <p14:creationId xmlns:p14="http://schemas.microsoft.com/office/powerpoint/2010/main" val="2729994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6D042-2330-4C6E-97C0-938608CA6BBA}"/>
              </a:ext>
            </a:extLst>
          </p:cNvPr>
          <p:cNvSpPr>
            <a:spLocks noGrp="1"/>
          </p:cNvSpPr>
          <p:nvPr>
            <p:ph type="title"/>
          </p:nvPr>
        </p:nvSpPr>
        <p:spPr/>
        <p:txBody>
          <a:bodyPr/>
          <a:lstStyle/>
          <a:p>
            <a:r>
              <a:rPr lang="en-US" altLang="en-US" b="1" dirty="0">
                <a:solidFill>
                  <a:srgbClr val="002060"/>
                </a:solidFill>
                <a:latin typeface="Gill Sans MT" panose="020B0502020104020203" pitchFamily="34" charset="0"/>
                <a:cs typeface="Times New Roman" pitchFamily="18" charset="0"/>
              </a:rPr>
              <a:t>Summary</a:t>
            </a:r>
            <a:endParaRPr lang="en-US" dirty="0">
              <a:solidFill>
                <a:srgbClr val="002060"/>
              </a:solidFill>
              <a:latin typeface="Gill Sans MT" panose="020B0502020104020203" pitchFamily="34" charset="0"/>
            </a:endParaRPr>
          </a:p>
        </p:txBody>
      </p:sp>
      <p:sp>
        <p:nvSpPr>
          <p:cNvPr id="3" name="Content Placeholder 2">
            <a:extLst>
              <a:ext uri="{FF2B5EF4-FFF2-40B4-BE49-F238E27FC236}">
                <a16:creationId xmlns:a16="http://schemas.microsoft.com/office/drawing/2014/main" id="{8616D6FD-B166-42DB-BC15-BBABC86A6FF9}"/>
              </a:ext>
            </a:extLst>
          </p:cNvPr>
          <p:cNvSpPr>
            <a:spLocks noGrp="1"/>
          </p:cNvSpPr>
          <p:nvPr>
            <p:ph idx="1"/>
          </p:nvPr>
        </p:nvSpPr>
        <p:spPr/>
        <p:txBody>
          <a:bodyPr/>
          <a:lstStyle/>
          <a:p>
            <a:r>
              <a:rPr lang="en-GB" sz="2000" b="0" dirty="0">
                <a:solidFill>
                  <a:schemeClr val="tx1"/>
                </a:solidFill>
                <a:latin typeface="Gill Sans MT" panose="020B0502020104020203" pitchFamily="34" charset="0"/>
                <a:cs typeface="Times New Roman" pitchFamily="18" charset="0"/>
              </a:rPr>
              <a:t>Adolescent and youth make significant proportion of the world population</a:t>
            </a:r>
          </a:p>
          <a:p>
            <a:r>
              <a:rPr lang="en-GB" sz="2000" b="0" dirty="0">
                <a:solidFill>
                  <a:schemeClr val="tx1"/>
                </a:solidFill>
                <a:latin typeface="Gill Sans MT" panose="020B0502020104020203" pitchFamily="34" charset="0"/>
                <a:cs typeface="Times New Roman" pitchFamily="18" charset="0"/>
              </a:rPr>
              <a:t>Rationales for investing in adolescent and youth health are </a:t>
            </a:r>
          </a:p>
          <a:p>
            <a:pPr lvl="1">
              <a:buFont typeface="Arial" panose="020B0604020202020204" pitchFamily="34" charset="0"/>
              <a:buChar char="•"/>
            </a:pPr>
            <a:r>
              <a:rPr lang="en-GB" sz="2000" dirty="0">
                <a:solidFill>
                  <a:schemeClr val="tx1"/>
                </a:solidFill>
                <a:latin typeface="Gill Sans MT" panose="020B0502020104020203" pitchFamily="34" charset="0"/>
                <a:cs typeface="Times New Roman" pitchFamily="18" charset="0"/>
              </a:rPr>
              <a:t>Adolescents have the fundamental right to health  </a:t>
            </a:r>
          </a:p>
          <a:p>
            <a:pPr lvl="1">
              <a:buFont typeface="Arial" panose="020B0604020202020204" pitchFamily="34" charset="0"/>
              <a:buChar char="•"/>
            </a:pPr>
            <a:r>
              <a:rPr lang="en-GB" sz="2000" dirty="0">
                <a:solidFill>
                  <a:schemeClr val="tx1"/>
                </a:solidFill>
                <a:latin typeface="Gill Sans MT" panose="020B0502020104020203" pitchFamily="34" charset="0"/>
                <a:cs typeface="Times New Roman" pitchFamily="18" charset="0"/>
              </a:rPr>
              <a:t>Investments in adolescent health bring a triple dividend of health benefits</a:t>
            </a:r>
          </a:p>
          <a:p>
            <a:pPr lvl="1">
              <a:buFont typeface="Arial" panose="020B0604020202020204" pitchFamily="34" charset="0"/>
              <a:buChar char="•"/>
            </a:pPr>
            <a:r>
              <a:rPr lang="en-GB" sz="2000" dirty="0">
                <a:solidFill>
                  <a:schemeClr val="tx1"/>
                </a:solidFill>
                <a:latin typeface="Gill Sans MT" panose="020B0502020104020203" pitchFamily="34" charset="0"/>
                <a:cs typeface="Times New Roman" pitchFamily="18" charset="0"/>
              </a:rPr>
              <a:t>Investments in adolescent health reduce present and future health costs and enhance social capital</a:t>
            </a:r>
          </a:p>
          <a:p>
            <a:pPr lvl="1">
              <a:buFont typeface="Arial" panose="020B0604020202020204" pitchFamily="34" charset="0"/>
              <a:buChar char="•"/>
            </a:pPr>
            <a:r>
              <a:rPr lang="en-GB" sz="2000" dirty="0">
                <a:solidFill>
                  <a:schemeClr val="tx1"/>
                </a:solidFill>
                <a:latin typeface="Gill Sans MT" panose="020B0502020104020203" pitchFamily="34" charset="0"/>
                <a:cs typeface="Times New Roman" pitchFamily="18" charset="0"/>
              </a:rPr>
              <a:t>Adolescents are not simply old children or young adults; they have particular needs</a:t>
            </a:r>
          </a:p>
          <a:p>
            <a:pPr lvl="1">
              <a:buFont typeface="Arial" panose="020B0604020202020204" pitchFamily="34" charset="0"/>
              <a:buChar char="•"/>
            </a:pPr>
            <a:r>
              <a:rPr lang="en-GB" sz="2000" dirty="0">
                <a:solidFill>
                  <a:schemeClr val="tx1"/>
                </a:solidFill>
                <a:latin typeface="Gill Sans MT" panose="020B0502020104020203" pitchFamily="34" charset="0"/>
                <a:cs typeface="Times New Roman" pitchFamily="18" charset="0"/>
              </a:rPr>
              <a:t>Adolescents bear a substantial proportion of the global disease and injury burden</a:t>
            </a:r>
          </a:p>
          <a:p>
            <a:endParaRPr lang="en-US" dirty="0"/>
          </a:p>
        </p:txBody>
      </p:sp>
      <p:pic>
        <p:nvPicPr>
          <p:cNvPr id="4" name="Picture 3">
            <a:extLst>
              <a:ext uri="{FF2B5EF4-FFF2-40B4-BE49-F238E27FC236}">
                <a16:creationId xmlns:a16="http://schemas.microsoft.com/office/drawing/2014/main" id="{D7A984C9-B631-4575-95CC-B6F44BA314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784057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4800" b="1" dirty="0"/>
              <a:t>Thank You!</a:t>
            </a:r>
          </a:p>
        </p:txBody>
      </p:sp>
      <p:pic>
        <p:nvPicPr>
          <p:cNvPr id="4" name="Picture 3">
            <a:extLst>
              <a:ext uri="{FF2B5EF4-FFF2-40B4-BE49-F238E27FC236}">
                <a16:creationId xmlns:a16="http://schemas.microsoft.com/office/drawing/2014/main" id="{A7CA02B9-E27B-4E9E-B2B2-901C611094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5932583"/>
            <a:ext cx="1052186" cy="925417"/>
          </a:xfrm>
          <a:prstGeom prst="rect">
            <a:avLst/>
          </a:prstGeom>
        </p:spPr>
      </p:pic>
    </p:spTree>
    <p:extLst>
      <p:ext uri="{BB962C8B-B14F-4D97-AF65-F5344CB8AC3E}">
        <p14:creationId xmlns:p14="http://schemas.microsoft.com/office/powerpoint/2010/main" val="764849647"/>
      </p:ext>
    </p:extLst>
  </p:cSld>
  <p:clrMapOvr>
    <a:masterClrMapping/>
  </p:clrMapOvr>
</p:sld>
</file>

<file path=ppt/theme/theme1.xml><?xml version="1.0" encoding="utf-8"?>
<a:theme xmlns:a="http://schemas.openxmlformats.org/drawingml/2006/main" name="Jhpiego_external">
  <a:themeElements>
    <a:clrScheme name="Jhpiego_external 13">
      <a:dk1>
        <a:srgbClr val="305B75"/>
      </a:dk1>
      <a:lt1>
        <a:srgbClr val="FFFFFF"/>
      </a:lt1>
      <a:dk2>
        <a:srgbClr val="FFFFFF"/>
      </a:dk2>
      <a:lt2>
        <a:srgbClr val="808080"/>
      </a:lt2>
      <a:accent1>
        <a:srgbClr val="E9804F"/>
      </a:accent1>
      <a:accent2>
        <a:srgbClr val="61B1E3"/>
      </a:accent2>
      <a:accent3>
        <a:srgbClr val="FFFFFF"/>
      </a:accent3>
      <a:accent4>
        <a:srgbClr val="274C63"/>
      </a:accent4>
      <a:accent5>
        <a:srgbClr val="F2C0B2"/>
      </a:accent5>
      <a:accent6>
        <a:srgbClr val="57A0CE"/>
      </a:accent6>
      <a:hlink>
        <a:srgbClr val="9B5A97"/>
      </a:hlink>
      <a:folHlink>
        <a:srgbClr val="99C525"/>
      </a:folHlink>
    </a:clrScheme>
    <a:fontScheme name="Jhpiego_external">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Jhpiego_extern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Jhpiego_externa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Jhpiego_externa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Jhpiego_externa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Jhpiego_externa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Jhpiego_externa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Jhpiego_externa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Jhpiego_externa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Jhpiego_externa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Jhpiego_externa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Jhpiego_externa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Jhpiego_externa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Jhpiego_external 13">
        <a:dk1>
          <a:srgbClr val="305B75"/>
        </a:dk1>
        <a:lt1>
          <a:srgbClr val="FFFFFF"/>
        </a:lt1>
        <a:dk2>
          <a:srgbClr val="FFFFFF"/>
        </a:dk2>
        <a:lt2>
          <a:srgbClr val="808080"/>
        </a:lt2>
        <a:accent1>
          <a:srgbClr val="E9804F"/>
        </a:accent1>
        <a:accent2>
          <a:srgbClr val="61B1E3"/>
        </a:accent2>
        <a:accent3>
          <a:srgbClr val="FFFFFF"/>
        </a:accent3>
        <a:accent4>
          <a:srgbClr val="274C63"/>
        </a:accent4>
        <a:accent5>
          <a:srgbClr val="F2C0B2"/>
        </a:accent5>
        <a:accent6>
          <a:srgbClr val="57A0CE"/>
        </a:accent6>
        <a:hlink>
          <a:srgbClr val="9B5A97"/>
        </a:hlink>
        <a:folHlink>
          <a:srgbClr val="99C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MOH-IHI">
  <a:themeElements>
    <a:clrScheme name="Jhpiego_external 13">
      <a:dk1>
        <a:srgbClr val="305B75"/>
      </a:dk1>
      <a:lt1>
        <a:srgbClr val="FFFFFF"/>
      </a:lt1>
      <a:dk2>
        <a:srgbClr val="FFFFFF"/>
      </a:dk2>
      <a:lt2>
        <a:srgbClr val="808080"/>
      </a:lt2>
      <a:accent1>
        <a:srgbClr val="E9804F"/>
      </a:accent1>
      <a:accent2>
        <a:srgbClr val="61B1E3"/>
      </a:accent2>
      <a:accent3>
        <a:srgbClr val="FFFFFF"/>
      </a:accent3>
      <a:accent4>
        <a:srgbClr val="274C63"/>
      </a:accent4>
      <a:accent5>
        <a:srgbClr val="F2C0B2"/>
      </a:accent5>
      <a:accent6>
        <a:srgbClr val="57A0CE"/>
      </a:accent6>
      <a:hlink>
        <a:srgbClr val="9B5A97"/>
      </a:hlink>
      <a:folHlink>
        <a:srgbClr val="99C525"/>
      </a:folHlink>
    </a:clrScheme>
    <a:fontScheme name="Jhpiego_external">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Jhpiego_extern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Jhpiego_externa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Jhpiego_externa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Jhpiego_externa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Jhpiego_externa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Jhpiego_externa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Jhpiego_externa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Jhpiego_externa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Jhpiego_externa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Jhpiego_externa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Jhpiego_externa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Jhpiego_externa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Jhpiego_external 13">
        <a:dk1>
          <a:srgbClr val="305B75"/>
        </a:dk1>
        <a:lt1>
          <a:srgbClr val="FFFFFF"/>
        </a:lt1>
        <a:dk2>
          <a:srgbClr val="FFFFFF"/>
        </a:dk2>
        <a:lt2>
          <a:srgbClr val="808080"/>
        </a:lt2>
        <a:accent1>
          <a:srgbClr val="E9804F"/>
        </a:accent1>
        <a:accent2>
          <a:srgbClr val="61B1E3"/>
        </a:accent2>
        <a:accent3>
          <a:srgbClr val="FFFFFF"/>
        </a:accent3>
        <a:accent4>
          <a:srgbClr val="274C63"/>
        </a:accent4>
        <a:accent5>
          <a:srgbClr val="F2C0B2"/>
        </a:accent5>
        <a:accent6>
          <a:srgbClr val="57A0CE"/>
        </a:accent6>
        <a:hlink>
          <a:srgbClr val="9B5A97"/>
        </a:hlink>
        <a:folHlink>
          <a:srgbClr val="99C52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FMOH-IHI" id="{5D315FAE-76ED-4655-AEC5-D6D7ACEBDCC1}" vid="{3F67CED5-1801-401C-9812-30E63E09472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30594</TotalTime>
  <Words>3103</Words>
  <Application>Microsoft Office PowerPoint</Application>
  <PresentationFormat>On-screen Show (4:3)</PresentationFormat>
  <Paragraphs>178</Paragraphs>
  <Slides>29</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Arial</vt:lpstr>
      <vt:lpstr>Calibri</vt:lpstr>
      <vt:lpstr>Gill Sans MT</vt:lpstr>
      <vt:lpstr>Helvetica</vt:lpstr>
      <vt:lpstr>Tahoma</vt:lpstr>
      <vt:lpstr>Times New Roman</vt:lpstr>
      <vt:lpstr>Wingdings</vt:lpstr>
      <vt:lpstr>Jhpiego_external</vt:lpstr>
      <vt:lpstr>FMOH-IHI</vt:lpstr>
      <vt:lpstr>Public Health Significance of Adolescents and Youth Health  </vt:lpstr>
      <vt:lpstr>PowerPoint Presentation</vt:lpstr>
      <vt:lpstr>Individual reflections (5’) </vt:lpstr>
      <vt:lpstr>Adolescent and Youth Current Status</vt:lpstr>
      <vt:lpstr>Adolescent and Youth Current Status</vt:lpstr>
      <vt:lpstr>Mortality trends in adolescent and youths </vt:lpstr>
      <vt:lpstr>Female : Trends of mortality with age group</vt:lpstr>
      <vt:lpstr>Male: Adolescent and youth  mortality trend  with age group</vt:lpstr>
      <vt:lpstr>1. What are the common health problems of AY observed in your health facility?    Time 5’ </vt:lpstr>
      <vt:lpstr>Epidemiology of Adolescents and Youth Health Problems</vt:lpstr>
      <vt:lpstr>Epidemiology of Adolescents and Youth Health Problems…</vt:lpstr>
      <vt:lpstr>PowerPoint Presentation</vt:lpstr>
      <vt:lpstr>Epidemiology of Adolescents and Youth Health Problems…</vt:lpstr>
      <vt:lpstr>Epidemiology of Adolescents and Youth Health Problems…</vt:lpstr>
      <vt:lpstr>Epidemiology of Adolescents and Youth Health Problems…</vt:lpstr>
      <vt:lpstr>Epidemiology of Adolescents and Youth Health Problems…</vt:lpstr>
      <vt:lpstr>PowerPoint Presentation</vt:lpstr>
      <vt:lpstr>Epidemiology of Adolescents and Youth Health Problems…</vt:lpstr>
      <vt:lpstr>Epidemiology of Adolescents and Youth Health Problems…</vt:lpstr>
      <vt:lpstr>Epidemiology of Adolescents and Youth Health Problems…</vt:lpstr>
      <vt:lpstr>Trends in HTPs</vt:lpstr>
      <vt:lpstr>Epidemiology of Priority Health problems </vt:lpstr>
      <vt:lpstr> Why do you think it is important to invest in adolescent and youth health? </vt:lpstr>
      <vt:lpstr>Why invest on adolescent and youth Health</vt:lpstr>
      <vt:lpstr>Why invest on adolescent and youth Health…</vt:lpstr>
      <vt:lpstr>Why invest on adolescent and youth Health…</vt:lpstr>
      <vt:lpstr>Why invest on adolescent and youth Health</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FOR AND MANAGING CLINICAL PRACTICE</dc:title>
  <dc:creator>Mihereteab Teshome Tebeje</dc:creator>
  <cp:lastModifiedBy>Wassie Lingerh</cp:lastModifiedBy>
  <cp:revision>416</cp:revision>
  <dcterms:created xsi:type="dcterms:W3CDTF">2012-04-30T14:20:05Z</dcterms:created>
  <dcterms:modified xsi:type="dcterms:W3CDTF">2023-06-01T20:41:18Z</dcterms:modified>
</cp:coreProperties>
</file>